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9144000" cy="5143500"/>
  <p:embeddedFontLst>
    <p:embeddedFont>
      <p:font typeface="Roboto"/>
      <p:regular r:id="rId13"/>
      <p:bold r:id="rId14"/>
      <p:italic r:id="rId15"/>
      <p:boldItalic r:id="rId16"/>
    </p:embeddedFont>
    <p:embeddedFont>
      <p:font typeface="Helvetica Neue"/>
      <p:regular r:id="rId17"/>
      <p:bold r:id="rId18"/>
      <p:italic r:id="rId19"/>
      <p:boldItalic r:id="rId20"/>
    </p:embeddedFont>
    <p:embeddedFont>
      <p:font typeface="Old Standard TT"/>
      <p:regular r:id="rId21"/>
      <p:bold r:id="rId22"/>
      <p: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4" roundtripDataSignature="AMtx7mj3jnMJOi968UEhZ9XJeUAzEo2X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11" Type="http://schemas.openxmlformats.org/officeDocument/2006/relationships/slide" Target="slides/slide6.xml"/><Relationship Id="rId22" Type="http://schemas.openxmlformats.org/officeDocument/2006/relationships/font" Target="fonts/OldStandardTT-bold.fntdata"/><Relationship Id="rId10" Type="http://schemas.openxmlformats.org/officeDocument/2006/relationships/slide" Target="slides/slide5.xml"/><Relationship Id="rId21" Type="http://schemas.openxmlformats.org/officeDocument/2006/relationships/font" Target="fonts/OldStandardTT-regular.fntdata"/><Relationship Id="rId13" Type="http://schemas.openxmlformats.org/officeDocument/2006/relationships/font" Target="fonts/Roboto-regular.fntdata"/><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OldStandardT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HelveticaNeue-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HelveticaNeue-italic.fntdata"/><Relationship Id="rId6" Type="http://schemas.openxmlformats.org/officeDocument/2006/relationships/slide" Target="slides/slide1.xml"/><Relationship Id="rId18"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 name="Google Shape;45;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7" name="Google Shape;57;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060b6bc62_0_49: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6060b6bc62_0_49: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060b6bc62_0_111: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6060b6bc62_0_11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508400" y="385763"/>
            <a:ext cx="81279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5:notes"/>
          <p:cNvSpPr txBox="1"/>
          <p:nvPr>
            <p:ph idx="1" type="body"/>
          </p:nvPr>
        </p:nvSpPr>
        <p:spPr>
          <a:xfrm>
            <a:off x="914400" y="2443163"/>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7"/>
          <p:cNvSpPr txBox="1"/>
          <p:nvPr>
            <p:ph type="title"/>
          </p:nvPr>
        </p:nvSpPr>
        <p:spPr>
          <a:xfrm>
            <a:off x="369824" y="222631"/>
            <a:ext cx="8150859" cy="42595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600">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idx="1" type="body"/>
          </p:nvPr>
        </p:nvSpPr>
        <p:spPr>
          <a:xfrm>
            <a:off x="368300" y="986688"/>
            <a:ext cx="8343900" cy="31737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7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 name="Google Shape;14;p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cxnSp>
        <p:nvCxnSpPr>
          <p:cNvPr id="18" name="Google Shape;18;p8"/>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9" name="Google Shape;19;p8"/>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1"/>
              </a:buClr>
              <a:buSzPts val="6000"/>
              <a:buNone/>
              <a:defRPr sz="6000">
                <a:solidFill>
                  <a:schemeClr val="accent1"/>
                </a:solidFill>
              </a:defRPr>
            </a:lvl1pPr>
            <a:lvl2pPr lvl="1" algn="l">
              <a:lnSpc>
                <a:spcPct val="100000"/>
              </a:lnSpc>
              <a:spcBef>
                <a:spcPts val="0"/>
              </a:spcBef>
              <a:spcAft>
                <a:spcPts val="0"/>
              </a:spcAft>
              <a:buClr>
                <a:schemeClr val="accent1"/>
              </a:buClr>
              <a:buSzPts val="6000"/>
              <a:buNone/>
              <a:defRPr sz="6000">
                <a:solidFill>
                  <a:schemeClr val="accent1"/>
                </a:solidFill>
              </a:defRPr>
            </a:lvl2pPr>
            <a:lvl3pPr lvl="2" algn="l">
              <a:lnSpc>
                <a:spcPct val="100000"/>
              </a:lnSpc>
              <a:spcBef>
                <a:spcPts val="0"/>
              </a:spcBef>
              <a:spcAft>
                <a:spcPts val="0"/>
              </a:spcAft>
              <a:buClr>
                <a:schemeClr val="accent1"/>
              </a:buClr>
              <a:buSzPts val="6000"/>
              <a:buNone/>
              <a:defRPr sz="6000">
                <a:solidFill>
                  <a:schemeClr val="accent1"/>
                </a:solidFill>
              </a:defRPr>
            </a:lvl3pPr>
            <a:lvl4pPr lvl="3" algn="l">
              <a:lnSpc>
                <a:spcPct val="100000"/>
              </a:lnSpc>
              <a:spcBef>
                <a:spcPts val="0"/>
              </a:spcBef>
              <a:spcAft>
                <a:spcPts val="0"/>
              </a:spcAft>
              <a:buClr>
                <a:schemeClr val="accent1"/>
              </a:buClr>
              <a:buSzPts val="6000"/>
              <a:buNone/>
              <a:defRPr sz="6000">
                <a:solidFill>
                  <a:schemeClr val="accent1"/>
                </a:solidFill>
              </a:defRPr>
            </a:lvl4pPr>
            <a:lvl5pPr lvl="4" algn="l">
              <a:lnSpc>
                <a:spcPct val="100000"/>
              </a:lnSpc>
              <a:spcBef>
                <a:spcPts val="0"/>
              </a:spcBef>
              <a:spcAft>
                <a:spcPts val="0"/>
              </a:spcAft>
              <a:buClr>
                <a:schemeClr val="accent1"/>
              </a:buClr>
              <a:buSzPts val="6000"/>
              <a:buNone/>
              <a:defRPr sz="6000">
                <a:solidFill>
                  <a:schemeClr val="accent1"/>
                </a:solidFill>
              </a:defRPr>
            </a:lvl5pPr>
            <a:lvl6pPr lvl="5" algn="l">
              <a:lnSpc>
                <a:spcPct val="100000"/>
              </a:lnSpc>
              <a:spcBef>
                <a:spcPts val="0"/>
              </a:spcBef>
              <a:spcAft>
                <a:spcPts val="0"/>
              </a:spcAft>
              <a:buClr>
                <a:schemeClr val="accent1"/>
              </a:buClr>
              <a:buSzPts val="6000"/>
              <a:buNone/>
              <a:defRPr sz="6000">
                <a:solidFill>
                  <a:schemeClr val="accent1"/>
                </a:solidFill>
              </a:defRPr>
            </a:lvl6pPr>
            <a:lvl7pPr lvl="6" algn="l">
              <a:lnSpc>
                <a:spcPct val="100000"/>
              </a:lnSpc>
              <a:spcBef>
                <a:spcPts val="0"/>
              </a:spcBef>
              <a:spcAft>
                <a:spcPts val="0"/>
              </a:spcAft>
              <a:buClr>
                <a:schemeClr val="accent1"/>
              </a:buClr>
              <a:buSzPts val="6000"/>
              <a:buNone/>
              <a:defRPr sz="6000">
                <a:solidFill>
                  <a:schemeClr val="accent1"/>
                </a:solidFill>
              </a:defRPr>
            </a:lvl7pPr>
            <a:lvl8pPr lvl="7" algn="l">
              <a:lnSpc>
                <a:spcPct val="100000"/>
              </a:lnSpc>
              <a:spcBef>
                <a:spcPts val="0"/>
              </a:spcBef>
              <a:spcAft>
                <a:spcPts val="0"/>
              </a:spcAft>
              <a:buClr>
                <a:schemeClr val="accent1"/>
              </a:buClr>
              <a:buSzPts val="6000"/>
              <a:buNone/>
              <a:defRPr sz="6000">
                <a:solidFill>
                  <a:schemeClr val="accent1"/>
                </a:solidFill>
              </a:defRPr>
            </a:lvl8pPr>
            <a:lvl9pPr lvl="8" algn="l">
              <a:lnSpc>
                <a:spcPct val="100000"/>
              </a:lnSpc>
              <a:spcBef>
                <a:spcPts val="0"/>
              </a:spcBef>
              <a:spcAft>
                <a:spcPts val="0"/>
              </a:spcAft>
              <a:buClr>
                <a:schemeClr val="accent1"/>
              </a:buClr>
              <a:buSzPts val="6000"/>
              <a:buNone/>
              <a:defRPr sz="6000">
                <a:solidFill>
                  <a:schemeClr val="accent1"/>
                </a:solidFill>
              </a:defRPr>
            </a:lvl9pPr>
          </a:lstStyle>
          <a:p/>
        </p:txBody>
      </p:sp>
      <p:sp>
        <p:nvSpPr>
          <p:cNvPr id="20" name="Google Shape;2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9"/>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600">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7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10"/>
          <p:cNvSpPr txBox="1"/>
          <p:nvPr>
            <p:ph type="title"/>
          </p:nvPr>
        </p:nvSpPr>
        <p:spPr>
          <a:xfrm>
            <a:off x="369824" y="222631"/>
            <a:ext cx="8150859" cy="42595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600">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0"/>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10"/>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1"/>
          <p:cNvSpPr txBox="1"/>
          <p:nvPr>
            <p:ph type="title"/>
          </p:nvPr>
        </p:nvSpPr>
        <p:spPr>
          <a:xfrm>
            <a:off x="369824" y="222631"/>
            <a:ext cx="8150859" cy="42595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600">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 name="Shape 39"/>
        <p:cNvGrpSpPr/>
        <p:nvPr/>
      </p:nvGrpSpPr>
      <p:grpSpPr>
        <a:xfrm>
          <a:off x="0" y="0"/>
          <a:ext cx="0" cy="0"/>
          <a:chOff x="0" y="0"/>
          <a:chExt cx="0" cy="0"/>
        </a:xfrm>
      </p:grpSpPr>
      <p:sp>
        <p:nvSpPr>
          <p:cNvPr id="40" name="Google Shape;40;p1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69824" y="222631"/>
            <a:ext cx="8150859" cy="42595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368300" y="986688"/>
            <a:ext cx="8343900" cy="317372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700" u="none" cap="none" strike="noStrike">
                <a:solidFill>
                  <a:schemeClr val="dk1"/>
                </a:solidFill>
                <a:latin typeface="Trebuchet MS"/>
                <a:ea typeface="Trebuchet MS"/>
                <a:cs typeface="Trebuchet MS"/>
                <a:sym typeface="Trebuchet M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sp>
        <p:nvSpPr>
          <p:cNvPr id="47" name="Google Shape;47;p1"/>
          <p:cNvSpPr/>
          <p:nvPr/>
        </p:nvSpPr>
        <p:spPr>
          <a:xfrm>
            <a:off x="392778" y="389293"/>
            <a:ext cx="362585" cy="397510"/>
          </a:xfrm>
          <a:custGeom>
            <a:rect b="b" l="l" r="r" t="t"/>
            <a:pathLst>
              <a:path extrusionOk="0" h="397509" w="362584">
                <a:moveTo>
                  <a:pt x="191462" y="260349"/>
                </a:moveTo>
                <a:lnTo>
                  <a:pt x="171118" y="260349"/>
                </a:lnTo>
                <a:lnTo>
                  <a:pt x="171118" y="266699"/>
                </a:lnTo>
                <a:lnTo>
                  <a:pt x="150733" y="274319"/>
                </a:lnTo>
                <a:lnTo>
                  <a:pt x="134273" y="287019"/>
                </a:lnTo>
                <a:lnTo>
                  <a:pt x="123272" y="304799"/>
                </a:lnTo>
                <a:lnTo>
                  <a:pt x="119264" y="325119"/>
                </a:lnTo>
                <a:lnTo>
                  <a:pt x="123272" y="346709"/>
                </a:lnTo>
                <a:lnTo>
                  <a:pt x="134273" y="364489"/>
                </a:lnTo>
                <a:lnTo>
                  <a:pt x="150733" y="378459"/>
                </a:lnTo>
                <a:lnTo>
                  <a:pt x="171118" y="384809"/>
                </a:lnTo>
                <a:lnTo>
                  <a:pt x="171118" y="394969"/>
                </a:lnTo>
                <a:lnTo>
                  <a:pt x="174311" y="397509"/>
                </a:lnTo>
                <a:lnTo>
                  <a:pt x="188671" y="397509"/>
                </a:lnTo>
                <a:lnTo>
                  <a:pt x="191462" y="394969"/>
                </a:lnTo>
                <a:lnTo>
                  <a:pt x="191462" y="384809"/>
                </a:lnTo>
                <a:lnTo>
                  <a:pt x="211975" y="378459"/>
                </a:lnTo>
                <a:lnTo>
                  <a:pt x="224147" y="368299"/>
                </a:lnTo>
                <a:lnTo>
                  <a:pt x="171118" y="368299"/>
                </a:lnTo>
                <a:lnTo>
                  <a:pt x="156928" y="363219"/>
                </a:lnTo>
                <a:lnTo>
                  <a:pt x="145542" y="354329"/>
                </a:lnTo>
                <a:lnTo>
                  <a:pt x="137969" y="341629"/>
                </a:lnTo>
                <a:lnTo>
                  <a:pt x="135220" y="326389"/>
                </a:lnTo>
                <a:lnTo>
                  <a:pt x="136536" y="314959"/>
                </a:lnTo>
                <a:lnTo>
                  <a:pt x="140656" y="306069"/>
                </a:lnTo>
                <a:lnTo>
                  <a:pt x="147842" y="298449"/>
                </a:lnTo>
                <a:lnTo>
                  <a:pt x="158355" y="295909"/>
                </a:lnTo>
                <a:lnTo>
                  <a:pt x="234246" y="295909"/>
                </a:lnTo>
                <a:lnTo>
                  <a:pt x="228561" y="287019"/>
                </a:lnTo>
                <a:lnTo>
                  <a:pt x="211807" y="274319"/>
                </a:lnTo>
                <a:lnTo>
                  <a:pt x="191462" y="266699"/>
                </a:lnTo>
                <a:lnTo>
                  <a:pt x="191462" y="260349"/>
                </a:lnTo>
                <a:close/>
              </a:path>
              <a:path extrusionOk="0" h="397509" w="362584">
                <a:moveTo>
                  <a:pt x="184683" y="355599"/>
                </a:moveTo>
                <a:lnTo>
                  <a:pt x="177904" y="355599"/>
                </a:lnTo>
                <a:lnTo>
                  <a:pt x="174311" y="356869"/>
                </a:lnTo>
                <a:lnTo>
                  <a:pt x="171118" y="358139"/>
                </a:lnTo>
                <a:lnTo>
                  <a:pt x="171118" y="368299"/>
                </a:lnTo>
                <a:lnTo>
                  <a:pt x="191462" y="368299"/>
                </a:lnTo>
                <a:lnTo>
                  <a:pt x="191462" y="358139"/>
                </a:lnTo>
                <a:lnTo>
                  <a:pt x="188272" y="356869"/>
                </a:lnTo>
                <a:lnTo>
                  <a:pt x="184683" y="355599"/>
                </a:lnTo>
                <a:close/>
              </a:path>
              <a:path extrusionOk="0" h="397509" w="362584">
                <a:moveTo>
                  <a:pt x="234246" y="295909"/>
                </a:moveTo>
                <a:lnTo>
                  <a:pt x="204229" y="295909"/>
                </a:lnTo>
                <a:lnTo>
                  <a:pt x="215081" y="298449"/>
                </a:lnTo>
                <a:lnTo>
                  <a:pt x="222230" y="306069"/>
                </a:lnTo>
                <a:lnTo>
                  <a:pt x="226164" y="314959"/>
                </a:lnTo>
                <a:lnTo>
                  <a:pt x="227367" y="326389"/>
                </a:lnTo>
                <a:lnTo>
                  <a:pt x="224394" y="340359"/>
                </a:lnTo>
                <a:lnTo>
                  <a:pt x="216446" y="354329"/>
                </a:lnTo>
                <a:lnTo>
                  <a:pt x="204983" y="363219"/>
                </a:lnTo>
                <a:lnTo>
                  <a:pt x="191462" y="368299"/>
                </a:lnTo>
                <a:lnTo>
                  <a:pt x="224147" y="368299"/>
                </a:lnTo>
                <a:lnTo>
                  <a:pt x="228711" y="364489"/>
                </a:lnTo>
                <a:lnTo>
                  <a:pt x="239986" y="346709"/>
                </a:lnTo>
                <a:lnTo>
                  <a:pt x="244118" y="325119"/>
                </a:lnTo>
                <a:lnTo>
                  <a:pt x="239930" y="304799"/>
                </a:lnTo>
                <a:lnTo>
                  <a:pt x="234246" y="295909"/>
                </a:lnTo>
                <a:close/>
              </a:path>
              <a:path extrusionOk="0" h="397509" w="362584">
                <a:moveTo>
                  <a:pt x="144794" y="322579"/>
                </a:moveTo>
                <a:lnTo>
                  <a:pt x="144794" y="340359"/>
                </a:lnTo>
                <a:lnTo>
                  <a:pt x="149181" y="342899"/>
                </a:lnTo>
                <a:lnTo>
                  <a:pt x="153968" y="344169"/>
                </a:lnTo>
                <a:lnTo>
                  <a:pt x="158355" y="344169"/>
                </a:lnTo>
                <a:lnTo>
                  <a:pt x="165224" y="342899"/>
                </a:lnTo>
                <a:lnTo>
                  <a:pt x="171420" y="341629"/>
                </a:lnTo>
                <a:lnTo>
                  <a:pt x="176868" y="337819"/>
                </a:lnTo>
                <a:lnTo>
                  <a:pt x="181493" y="332739"/>
                </a:lnTo>
                <a:lnTo>
                  <a:pt x="217790" y="332739"/>
                </a:lnTo>
                <a:lnTo>
                  <a:pt x="217790" y="327659"/>
                </a:lnTo>
                <a:lnTo>
                  <a:pt x="151972" y="327659"/>
                </a:lnTo>
                <a:lnTo>
                  <a:pt x="148782" y="326389"/>
                </a:lnTo>
                <a:lnTo>
                  <a:pt x="144794" y="322579"/>
                </a:lnTo>
                <a:close/>
              </a:path>
              <a:path extrusionOk="0" h="397509" w="362584">
                <a:moveTo>
                  <a:pt x="217790" y="332739"/>
                </a:moveTo>
                <a:lnTo>
                  <a:pt x="181493" y="332739"/>
                </a:lnTo>
                <a:lnTo>
                  <a:pt x="186679" y="340359"/>
                </a:lnTo>
                <a:lnTo>
                  <a:pt x="194655" y="344169"/>
                </a:lnTo>
                <a:lnTo>
                  <a:pt x="209015" y="344169"/>
                </a:lnTo>
                <a:lnTo>
                  <a:pt x="213403" y="342899"/>
                </a:lnTo>
                <a:lnTo>
                  <a:pt x="217790" y="340359"/>
                </a:lnTo>
                <a:lnTo>
                  <a:pt x="217790" y="332739"/>
                </a:lnTo>
                <a:close/>
              </a:path>
              <a:path extrusionOk="0" h="397509" w="362584">
                <a:moveTo>
                  <a:pt x="121135" y="261619"/>
                </a:moveTo>
                <a:lnTo>
                  <a:pt x="96931" y="261619"/>
                </a:lnTo>
                <a:lnTo>
                  <a:pt x="103311" y="270509"/>
                </a:lnTo>
                <a:lnTo>
                  <a:pt x="103311" y="279399"/>
                </a:lnTo>
                <a:lnTo>
                  <a:pt x="100157" y="290829"/>
                </a:lnTo>
                <a:lnTo>
                  <a:pt x="91543" y="302259"/>
                </a:lnTo>
                <a:lnTo>
                  <a:pt x="78742" y="309879"/>
                </a:lnTo>
                <a:lnTo>
                  <a:pt x="63026" y="312419"/>
                </a:lnTo>
                <a:lnTo>
                  <a:pt x="21138" y="312419"/>
                </a:lnTo>
                <a:lnTo>
                  <a:pt x="30270" y="318769"/>
                </a:lnTo>
                <a:lnTo>
                  <a:pt x="40635" y="325119"/>
                </a:lnTo>
                <a:lnTo>
                  <a:pt x="51824" y="327659"/>
                </a:lnTo>
                <a:lnTo>
                  <a:pt x="63425" y="328929"/>
                </a:lnTo>
                <a:lnTo>
                  <a:pt x="86321" y="323849"/>
                </a:lnTo>
                <a:lnTo>
                  <a:pt x="104806" y="312419"/>
                </a:lnTo>
                <a:lnTo>
                  <a:pt x="117159" y="293369"/>
                </a:lnTo>
                <a:lnTo>
                  <a:pt x="121659" y="270509"/>
                </a:lnTo>
                <a:lnTo>
                  <a:pt x="121135" y="261619"/>
                </a:lnTo>
                <a:close/>
              </a:path>
              <a:path extrusionOk="0" h="397509" w="362584">
                <a:moveTo>
                  <a:pt x="288791" y="234949"/>
                </a:moveTo>
                <a:lnTo>
                  <a:pt x="243719" y="234949"/>
                </a:lnTo>
                <a:lnTo>
                  <a:pt x="248506" y="238759"/>
                </a:lnTo>
                <a:lnTo>
                  <a:pt x="245239" y="246379"/>
                </a:lnTo>
                <a:lnTo>
                  <a:pt x="242721" y="253999"/>
                </a:lnTo>
                <a:lnTo>
                  <a:pt x="241099" y="261619"/>
                </a:lnTo>
                <a:lnTo>
                  <a:pt x="240607" y="269239"/>
                </a:lnTo>
                <a:lnTo>
                  <a:pt x="240526" y="270509"/>
                </a:lnTo>
                <a:lnTo>
                  <a:pt x="245026" y="293369"/>
                </a:lnTo>
                <a:lnTo>
                  <a:pt x="257379" y="312419"/>
                </a:lnTo>
                <a:lnTo>
                  <a:pt x="275865" y="323849"/>
                </a:lnTo>
                <a:lnTo>
                  <a:pt x="298763" y="328929"/>
                </a:lnTo>
                <a:lnTo>
                  <a:pt x="310537" y="327659"/>
                </a:lnTo>
                <a:lnTo>
                  <a:pt x="321750" y="325119"/>
                </a:lnTo>
                <a:lnTo>
                  <a:pt x="332139" y="318769"/>
                </a:lnTo>
                <a:lnTo>
                  <a:pt x="341443" y="312419"/>
                </a:lnTo>
                <a:lnTo>
                  <a:pt x="299162" y="312419"/>
                </a:lnTo>
                <a:lnTo>
                  <a:pt x="281531" y="309879"/>
                </a:lnTo>
                <a:lnTo>
                  <a:pt x="268799" y="300989"/>
                </a:lnTo>
                <a:lnTo>
                  <a:pt x="261077" y="289559"/>
                </a:lnTo>
                <a:lnTo>
                  <a:pt x="258478" y="279399"/>
                </a:lnTo>
                <a:lnTo>
                  <a:pt x="258478" y="270509"/>
                </a:lnTo>
                <a:lnTo>
                  <a:pt x="265257" y="261619"/>
                </a:lnTo>
                <a:lnTo>
                  <a:pt x="328469" y="261619"/>
                </a:lnTo>
                <a:lnTo>
                  <a:pt x="331191" y="257809"/>
                </a:lnTo>
                <a:lnTo>
                  <a:pt x="331686" y="256539"/>
                </a:lnTo>
                <a:lnTo>
                  <a:pt x="297170" y="256539"/>
                </a:lnTo>
                <a:lnTo>
                  <a:pt x="288791" y="248919"/>
                </a:lnTo>
                <a:lnTo>
                  <a:pt x="288791" y="234949"/>
                </a:lnTo>
                <a:close/>
              </a:path>
              <a:path extrusionOk="0" h="397509" w="362584">
                <a:moveTo>
                  <a:pt x="195454" y="295909"/>
                </a:moveTo>
                <a:lnTo>
                  <a:pt x="167529" y="295909"/>
                </a:lnTo>
                <a:lnTo>
                  <a:pt x="173114" y="303529"/>
                </a:lnTo>
                <a:lnTo>
                  <a:pt x="173114" y="321309"/>
                </a:lnTo>
                <a:lnTo>
                  <a:pt x="166335" y="327659"/>
                </a:lnTo>
                <a:lnTo>
                  <a:pt x="196651" y="327659"/>
                </a:lnTo>
                <a:lnTo>
                  <a:pt x="189470" y="321309"/>
                </a:lnTo>
                <a:lnTo>
                  <a:pt x="189470" y="303529"/>
                </a:lnTo>
                <a:lnTo>
                  <a:pt x="195454" y="295909"/>
                </a:lnTo>
                <a:close/>
              </a:path>
              <a:path extrusionOk="0" h="397509" w="362584">
                <a:moveTo>
                  <a:pt x="217790" y="322579"/>
                </a:moveTo>
                <a:lnTo>
                  <a:pt x="213403" y="325119"/>
                </a:lnTo>
                <a:lnTo>
                  <a:pt x="211008" y="327659"/>
                </a:lnTo>
                <a:lnTo>
                  <a:pt x="217790" y="327659"/>
                </a:lnTo>
                <a:lnTo>
                  <a:pt x="217790" y="322579"/>
                </a:lnTo>
                <a:close/>
              </a:path>
              <a:path extrusionOk="0" h="397509" w="362584">
                <a:moveTo>
                  <a:pt x="58236" y="205739"/>
                </a:moveTo>
                <a:lnTo>
                  <a:pt x="35338" y="210819"/>
                </a:lnTo>
                <a:lnTo>
                  <a:pt x="16852" y="223519"/>
                </a:lnTo>
                <a:lnTo>
                  <a:pt x="4499" y="242569"/>
                </a:lnTo>
                <a:lnTo>
                  <a:pt x="0" y="265429"/>
                </a:lnTo>
                <a:lnTo>
                  <a:pt x="289" y="269239"/>
                </a:lnTo>
                <a:lnTo>
                  <a:pt x="386" y="270509"/>
                </a:lnTo>
                <a:lnTo>
                  <a:pt x="8376" y="297179"/>
                </a:lnTo>
                <a:lnTo>
                  <a:pt x="0" y="303529"/>
                </a:lnTo>
                <a:lnTo>
                  <a:pt x="797" y="309879"/>
                </a:lnTo>
                <a:lnTo>
                  <a:pt x="6781" y="317499"/>
                </a:lnTo>
                <a:lnTo>
                  <a:pt x="12363" y="318769"/>
                </a:lnTo>
                <a:lnTo>
                  <a:pt x="21138" y="312419"/>
                </a:lnTo>
                <a:lnTo>
                  <a:pt x="55046" y="312419"/>
                </a:lnTo>
                <a:lnTo>
                  <a:pt x="47367" y="311149"/>
                </a:lnTo>
                <a:lnTo>
                  <a:pt x="40137" y="307339"/>
                </a:lnTo>
                <a:lnTo>
                  <a:pt x="33506" y="302259"/>
                </a:lnTo>
                <a:lnTo>
                  <a:pt x="42283" y="295909"/>
                </a:lnTo>
                <a:lnTo>
                  <a:pt x="40686" y="289559"/>
                </a:lnTo>
                <a:lnTo>
                  <a:pt x="38771" y="287019"/>
                </a:lnTo>
                <a:lnTo>
                  <a:pt x="21138" y="287019"/>
                </a:lnTo>
                <a:lnTo>
                  <a:pt x="17949" y="280669"/>
                </a:lnTo>
                <a:lnTo>
                  <a:pt x="16354" y="274319"/>
                </a:lnTo>
                <a:lnTo>
                  <a:pt x="16354" y="266699"/>
                </a:lnTo>
                <a:lnTo>
                  <a:pt x="19651" y="250189"/>
                </a:lnTo>
                <a:lnTo>
                  <a:pt x="28370" y="236219"/>
                </a:lnTo>
                <a:lnTo>
                  <a:pt x="40754" y="227329"/>
                </a:lnTo>
                <a:lnTo>
                  <a:pt x="55046" y="223519"/>
                </a:lnTo>
                <a:lnTo>
                  <a:pt x="100916" y="223519"/>
                </a:lnTo>
                <a:lnTo>
                  <a:pt x="91612" y="215899"/>
                </a:lnTo>
                <a:lnTo>
                  <a:pt x="81222" y="210819"/>
                </a:lnTo>
                <a:lnTo>
                  <a:pt x="70010" y="207009"/>
                </a:lnTo>
                <a:lnTo>
                  <a:pt x="58236" y="205739"/>
                </a:lnTo>
                <a:close/>
              </a:path>
              <a:path extrusionOk="0" h="397509" w="362584">
                <a:moveTo>
                  <a:pt x="331870" y="280669"/>
                </a:moveTo>
                <a:lnTo>
                  <a:pt x="325487" y="283209"/>
                </a:lnTo>
                <a:lnTo>
                  <a:pt x="321502" y="289559"/>
                </a:lnTo>
                <a:lnTo>
                  <a:pt x="319506" y="295909"/>
                </a:lnTo>
                <a:lnTo>
                  <a:pt x="328281" y="302259"/>
                </a:lnTo>
                <a:lnTo>
                  <a:pt x="321881" y="307339"/>
                </a:lnTo>
                <a:lnTo>
                  <a:pt x="314769" y="311149"/>
                </a:lnTo>
                <a:lnTo>
                  <a:pt x="307134" y="312419"/>
                </a:lnTo>
                <a:lnTo>
                  <a:pt x="341443" y="312419"/>
                </a:lnTo>
                <a:lnTo>
                  <a:pt x="349819" y="318769"/>
                </a:lnTo>
                <a:lnTo>
                  <a:pt x="355796" y="317499"/>
                </a:lnTo>
                <a:lnTo>
                  <a:pt x="361784" y="309879"/>
                </a:lnTo>
                <a:lnTo>
                  <a:pt x="361940" y="307339"/>
                </a:lnTo>
                <a:lnTo>
                  <a:pt x="362019" y="306069"/>
                </a:lnTo>
                <a:lnTo>
                  <a:pt x="362097" y="304799"/>
                </a:lnTo>
                <a:lnTo>
                  <a:pt x="362176" y="303529"/>
                </a:lnTo>
                <a:lnTo>
                  <a:pt x="353412" y="297179"/>
                </a:lnTo>
                <a:lnTo>
                  <a:pt x="357306" y="289559"/>
                </a:lnTo>
                <a:lnTo>
                  <a:pt x="358216" y="287019"/>
                </a:lnTo>
                <a:lnTo>
                  <a:pt x="340645" y="287019"/>
                </a:lnTo>
                <a:lnTo>
                  <a:pt x="331870" y="280669"/>
                </a:lnTo>
                <a:close/>
              </a:path>
              <a:path extrusionOk="0" h="397509" w="362584">
                <a:moveTo>
                  <a:pt x="41484" y="237489"/>
                </a:moveTo>
                <a:lnTo>
                  <a:pt x="27123" y="248919"/>
                </a:lnTo>
                <a:lnTo>
                  <a:pt x="30388" y="257809"/>
                </a:lnTo>
                <a:lnTo>
                  <a:pt x="36197" y="265429"/>
                </a:lnTo>
                <a:lnTo>
                  <a:pt x="43951" y="270509"/>
                </a:lnTo>
                <a:lnTo>
                  <a:pt x="53050" y="273049"/>
                </a:lnTo>
                <a:lnTo>
                  <a:pt x="55840" y="273049"/>
                </a:lnTo>
                <a:lnTo>
                  <a:pt x="55046" y="274319"/>
                </a:lnTo>
                <a:lnTo>
                  <a:pt x="54251" y="276859"/>
                </a:lnTo>
                <a:lnTo>
                  <a:pt x="54251" y="279399"/>
                </a:lnTo>
                <a:lnTo>
                  <a:pt x="55772" y="287019"/>
                </a:lnTo>
                <a:lnTo>
                  <a:pt x="59835" y="294639"/>
                </a:lnTo>
                <a:lnTo>
                  <a:pt x="65693" y="300989"/>
                </a:lnTo>
                <a:lnTo>
                  <a:pt x="72599" y="304799"/>
                </a:lnTo>
                <a:lnTo>
                  <a:pt x="86560" y="294639"/>
                </a:lnTo>
                <a:lnTo>
                  <a:pt x="78180" y="293369"/>
                </a:lnTo>
                <a:lnTo>
                  <a:pt x="70999" y="287019"/>
                </a:lnTo>
                <a:lnTo>
                  <a:pt x="70999" y="269239"/>
                </a:lnTo>
                <a:lnTo>
                  <a:pt x="78579" y="261619"/>
                </a:lnTo>
                <a:lnTo>
                  <a:pt x="121135" y="261619"/>
                </a:lnTo>
                <a:lnTo>
                  <a:pt x="120087" y="256539"/>
                </a:lnTo>
                <a:lnTo>
                  <a:pt x="48662" y="256539"/>
                </a:lnTo>
                <a:lnTo>
                  <a:pt x="41085" y="248919"/>
                </a:lnTo>
                <a:lnTo>
                  <a:pt x="41085" y="238759"/>
                </a:lnTo>
                <a:lnTo>
                  <a:pt x="41484" y="237489"/>
                </a:lnTo>
                <a:close/>
              </a:path>
              <a:path extrusionOk="0" h="397509" w="362584">
                <a:moveTo>
                  <a:pt x="328469" y="261619"/>
                </a:moveTo>
                <a:lnTo>
                  <a:pt x="283206" y="261619"/>
                </a:lnTo>
                <a:lnTo>
                  <a:pt x="291186" y="269239"/>
                </a:lnTo>
                <a:lnTo>
                  <a:pt x="291186" y="287019"/>
                </a:lnTo>
                <a:lnTo>
                  <a:pt x="284008" y="293369"/>
                </a:lnTo>
                <a:lnTo>
                  <a:pt x="275229" y="294639"/>
                </a:lnTo>
                <a:lnTo>
                  <a:pt x="289190" y="304799"/>
                </a:lnTo>
                <a:lnTo>
                  <a:pt x="296095" y="300989"/>
                </a:lnTo>
                <a:lnTo>
                  <a:pt x="301954" y="294639"/>
                </a:lnTo>
                <a:lnTo>
                  <a:pt x="306017" y="287019"/>
                </a:lnTo>
                <a:lnTo>
                  <a:pt x="307538" y="279399"/>
                </a:lnTo>
                <a:lnTo>
                  <a:pt x="307538" y="276859"/>
                </a:lnTo>
                <a:lnTo>
                  <a:pt x="307139" y="274319"/>
                </a:lnTo>
                <a:lnTo>
                  <a:pt x="306344" y="273049"/>
                </a:lnTo>
                <a:lnTo>
                  <a:pt x="316322" y="271779"/>
                </a:lnTo>
                <a:lnTo>
                  <a:pt x="324841" y="266699"/>
                </a:lnTo>
                <a:lnTo>
                  <a:pt x="328469" y="261619"/>
                </a:lnTo>
                <a:close/>
              </a:path>
              <a:path extrusionOk="0" h="397509" w="362584">
                <a:moveTo>
                  <a:pt x="29914" y="280669"/>
                </a:moveTo>
                <a:lnTo>
                  <a:pt x="21138" y="287019"/>
                </a:lnTo>
                <a:lnTo>
                  <a:pt x="38771" y="287019"/>
                </a:lnTo>
                <a:lnTo>
                  <a:pt x="35899" y="283209"/>
                </a:lnTo>
                <a:lnTo>
                  <a:pt x="29914" y="280669"/>
                </a:lnTo>
                <a:close/>
              </a:path>
              <a:path extrusionOk="0" h="397509" w="362584">
                <a:moveTo>
                  <a:pt x="303949" y="205739"/>
                </a:moveTo>
                <a:lnTo>
                  <a:pt x="292408" y="207009"/>
                </a:lnTo>
                <a:lnTo>
                  <a:pt x="281314" y="210819"/>
                </a:lnTo>
                <a:lnTo>
                  <a:pt x="270968" y="215899"/>
                </a:lnTo>
                <a:lnTo>
                  <a:pt x="261668" y="223519"/>
                </a:lnTo>
                <a:lnTo>
                  <a:pt x="307538" y="223519"/>
                </a:lnTo>
                <a:lnTo>
                  <a:pt x="323450" y="228599"/>
                </a:lnTo>
                <a:lnTo>
                  <a:pt x="335511" y="238759"/>
                </a:lnTo>
                <a:lnTo>
                  <a:pt x="343160" y="252729"/>
                </a:lnTo>
                <a:lnTo>
                  <a:pt x="345834" y="266699"/>
                </a:lnTo>
                <a:lnTo>
                  <a:pt x="345834" y="274319"/>
                </a:lnTo>
                <a:lnTo>
                  <a:pt x="343838" y="280669"/>
                </a:lnTo>
                <a:lnTo>
                  <a:pt x="340645" y="287019"/>
                </a:lnTo>
                <a:lnTo>
                  <a:pt x="358216" y="287019"/>
                </a:lnTo>
                <a:lnTo>
                  <a:pt x="360038" y="281939"/>
                </a:lnTo>
                <a:lnTo>
                  <a:pt x="361648" y="273049"/>
                </a:lnTo>
                <a:lnTo>
                  <a:pt x="362088" y="266699"/>
                </a:lnTo>
                <a:lnTo>
                  <a:pt x="362176" y="265429"/>
                </a:lnTo>
                <a:lnTo>
                  <a:pt x="357678" y="242569"/>
                </a:lnTo>
                <a:lnTo>
                  <a:pt x="345329" y="223519"/>
                </a:lnTo>
                <a:lnTo>
                  <a:pt x="326847" y="210819"/>
                </a:lnTo>
                <a:lnTo>
                  <a:pt x="303949" y="205739"/>
                </a:lnTo>
                <a:close/>
              </a:path>
              <a:path extrusionOk="0" h="397509" w="362584">
                <a:moveTo>
                  <a:pt x="204628" y="243839"/>
                </a:moveTo>
                <a:lnTo>
                  <a:pt x="157560" y="243839"/>
                </a:lnTo>
                <a:lnTo>
                  <a:pt x="155963" y="246379"/>
                </a:lnTo>
                <a:lnTo>
                  <a:pt x="155165" y="248919"/>
                </a:lnTo>
                <a:lnTo>
                  <a:pt x="155165" y="255269"/>
                </a:lnTo>
                <a:lnTo>
                  <a:pt x="155963" y="257809"/>
                </a:lnTo>
                <a:lnTo>
                  <a:pt x="157560" y="260349"/>
                </a:lnTo>
                <a:lnTo>
                  <a:pt x="205027" y="260349"/>
                </a:lnTo>
                <a:lnTo>
                  <a:pt x="207418" y="255269"/>
                </a:lnTo>
                <a:lnTo>
                  <a:pt x="207418" y="248919"/>
                </a:lnTo>
                <a:lnTo>
                  <a:pt x="206225" y="246379"/>
                </a:lnTo>
                <a:lnTo>
                  <a:pt x="204628" y="243839"/>
                </a:lnTo>
                <a:close/>
              </a:path>
              <a:path extrusionOk="0" h="397509" w="362584">
                <a:moveTo>
                  <a:pt x="110489" y="198119"/>
                </a:moveTo>
                <a:lnTo>
                  <a:pt x="104505" y="199389"/>
                </a:lnTo>
                <a:lnTo>
                  <a:pt x="99323" y="203199"/>
                </a:lnTo>
                <a:lnTo>
                  <a:pt x="97327" y="208279"/>
                </a:lnTo>
                <a:lnTo>
                  <a:pt x="105706" y="219709"/>
                </a:lnTo>
                <a:lnTo>
                  <a:pt x="100916" y="223519"/>
                </a:lnTo>
                <a:lnTo>
                  <a:pt x="65018" y="223519"/>
                </a:lnTo>
                <a:lnTo>
                  <a:pt x="72995" y="231139"/>
                </a:lnTo>
                <a:lnTo>
                  <a:pt x="72995" y="248919"/>
                </a:lnTo>
                <a:lnTo>
                  <a:pt x="65018" y="256539"/>
                </a:lnTo>
                <a:lnTo>
                  <a:pt x="120087" y="256539"/>
                </a:lnTo>
                <a:lnTo>
                  <a:pt x="119564" y="253999"/>
                </a:lnTo>
                <a:lnTo>
                  <a:pt x="116945" y="246379"/>
                </a:lnTo>
                <a:lnTo>
                  <a:pt x="113280" y="238759"/>
                </a:lnTo>
                <a:lnTo>
                  <a:pt x="118465" y="234949"/>
                </a:lnTo>
                <a:lnTo>
                  <a:pt x="140007" y="234949"/>
                </a:lnTo>
                <a:lnTo>
                  <a:pt x="131232" y="224789"/>
                </a:lnTo>
                <a:lnTo>
                  <a:pt x="151175" y="208279"/>
                </a:lnTo>
                <a:lnTo>
                  <a:pt x="118865" y="208279"/>
                </a:lnTo>
                <a:lnTo>
                  <a:pt x="110489" y="198119"/>
                </a:lnTo>
                <a:close/>
              </a:path>
              <a:path extrusionOk="0" h="397509" w="362584">
                <a:moveTo>
                  <a:pt x="320704" y="237489"/>
                </a:moveTo>
                <a:lnTo>
                  <a:pt x="320704" y="238759"/>
                </a:lnTo>
                <a:lnTo>
                  <a:pt x="321103" y="240029"/>
                </a:lnTo>
                <a:lnTo>
                  <a:pt x="321103" y="248919"/>
                </a:lnTo>
                <a:lnTo>
                  <a:pt x="313522" y="256539"/>
                </a:lnTo>
                <a:lnTo>
                  <a:pt x="331686" y="256539"/>
                </a:lnTo>
                <a:lnTo>
                  <a:pt x="334661" y="248919"/>
                </a:lnTo>
                <a:lnTo>
                  <a:pt x="320704" y="237489"/>
                </a:lnTo>
                <a:close/>
              </a:path>
              <a:path extrusionOk="0" h="397509" w="362584">
                <a:moveTo>
                  <a:pt x="140007" y="234949"/>
                </a:moveTo>
                <a:lnTo>
                  <a:pt x="118465" y="234949"/>
                </a:lnTo>
                <a:lnTo>
                  <a:pt x="126845" y="246379"/>
                </a:lnTo>
                <a:lnTo>
                  <a:pt x="132829" y="245109"/>
                </a:lnTo>
                <a:lnTo>
                  <a:pt x="138015" y="241299"/>
                </a:lnTo>
                <a:lnTo>
                  <a:pt x="140007" y="234949"/>
                </a:lnTo>
                <a:close/>
              </a:path>
              <a:path extrusionOk="0" h="397509" w="362584">
                <a:moveTo>
                  <a:pt x="222799" y="191769"/>
                </a:moveTo>
                <a:lnTo>
                  <a:pt x="191462" y="191769"/>
                </a:lnTo>
                <a:lnTo>
                  <a:pt x="230952" y="224789"/>
                </a:lnTo>
                <a:lnTo>
                  <a:pt x="222577" y="234949"/>
                </a:lnTo>
                <a:lnTo>
                  <a:pt x="224173" y="241299"/>
                </a:lnTo>
                <a:lnTo>
                  <a:pt x="229359" y="245109"/>
                </a:lnTo>
                <a:lnTo>
                  <a:pt x="235343" y="246379"/>
                </a:lnTo>
                <a:lnTo>
                  <a:pt x="243719" y="234949"/>
                </a:lnTo>
                <a:lnTo>
                  <a:pt x="288791" y="234949"/>
                </a:lnTo>
                <a:lnTo>
                  <a:pt x="288791" y="231139"/>
                </a:lnTo>
                <a:lnTo>
                  <a:pt x="297566" y="223519"/>
                </a:lnTo>
                <a:lnTo>
                  <a:pt x="261668" y="223519"/>
                </a:lnTo>
                <a:lnTo>
                  <a:pt x="256482" y="219709"/>
                </a:lnTo>
                <a:lnTo>
                  <a:pt x="264858" y="208279"/>
                </a:lnTo>
                <a:lnTo>
                  <a:pt x="243719" y="208279"/>
                </a:lnTo>
                <a:lnTo>
                  <a:pt x="222799" y="191769"/>
                </a:lnTo>
                <a:close/>
              </a:path>
              <a:path extrusionOk="0" h="397509" w="362584">
                <a:moveTo>
                  <a:pt x="191462" y="191769"/>
                </a:moveTo>
                <a:lnTo>
                  <a:pt x="171118" y="191769"/>
                </a:lnTo>
                <a:lnTo>
                  <a:pt x="171118" y="243839"/>
                </a:lnTo>
                <a:lnTo>
                  <a:pt x="191462" y="243839"/>
                </a:lnTo>
                <a:lnTo>
                  <a:pt x="191462" y="191769"/>
                </a:lnTo>
                <a:close/>
              </a:path>
              <a:path extrusionOk="0" h="397509" w="362584">
                <a:moveTo>
                  <a:pt x="147441" y="130809"/>
                </a:moveTo>
                <a:lnTo>
                  <a:pt x="116473" y="130809"/>
                </a:lnTo>
                <a:lnTo>
                  <a:pt x="165537" y="171449"/>
                </a:lnTo>
                <a:lnTo>
                  <a:pt x="118865" y="208279"/>
                </a:lnTo>
                <a:lnTo>
                  <a:pt x="151175" y="208279"/>
                </a:lnTo>
                <a:lnTo>
                  <a:pt x="171118" y="191769"/>
                </a:lnTo>
                <a:lnTo>
                  <a:pt x="222799" y="191769"/>
                </a:lnTo>
                <a:lnTo>
                  <a:pt x="197050" y="171449"/>
                </a:lnTo>
                <a:lnTo>
                  <a:pt x="223114" y="149859"/>
                </a:lnTo>
                <a:lnTo>
                  <a:pt x="171118" y="149859"/>
                </a:lnTo>
                <a:lnTo>
                  <a:pt x="147441" y="130809"/>
                </a:lnTo>
                <a:close/>
              </a:path>
              <a:path extrusionOk="0" h="397509" w="362584">
                <a:moveTo>
                  <a:pt x="252091" y="198119"/>
                </a:moveTo>
                <a:lnTo>
                  <a:pt x="243719" y="208279"/>
                </a:lnTo>
                <a:lnTo>
                  <a:pt x="264858" y="208279"/>
                </a:lnTo>
                <a:lnTo>
                  <a:pt x="262466" y="203199"/>
                </a:lnTo>
                <a:lnTo>
                  <a:pt x="258075" y="199389"/>
                </a:lnTo>
                <a:lnTo>
                  <a:pt x="252091" y="198119"/>
                </a:lnTo>
                <a:close/>
              </a:path>
              <a:path extrusionOk="0" h="397509" w="362584">
                <a:moveTo>
                  <a:pt x="114421" y="133349"/>
                </a:moveTo>
                <a:lnTo>
                  <a:pt x="88149" y="133349"/>
                </a:lnTo>
                <a:lnTo>
                  <a:pt x="95334" y="139699"/>
                </a:lnTo>
                <a:lnTo>
                  <a:pt x="70599" y="153669"/>
                </a:lnTo>
                <a:lnTo>
                  <a:pt x="96931" y="173989"/>
                </a:lnTo>
                <a:lnTo>
                  <a:pt x="104109" y="165099"/>
                </a:lnTo>
                <a:lnTo>
                  <a:pt x="94935" y="157479"/>
                </a:lnTo>
                <a:lnTo>
                  <a:pt x="102113" y="148589"/>
                </a:lnTo>
                <a:lnTo>
                  <a:pt x="117839" y="148589"/>
                </a:lnTo>
                <a:lnTo>
                  <a:pt x="118865" y="147319"/>
                </a:lnTo>
                <a:lnTo>
                  <a:pt x="109291" y="139699"/>
                </a:lnTo>
                <a:lnTo>
                  <a:pt x="114421" y="133349"/>
                </a:lnTo>
                <a:close/>
              </a:path>
              <a:path extrusionOk="0" h="397509" w="362584">
                <a:moveTo>
                  <a:pt x="282843" y="148589"/>
                </a:moveTo>
                <a:lnTo>
                  <a:pt x="260470" y="148589"/>
                </a:lnTo>
                <a:lnTo>
                  <a:pt x="267652" y="157479"/>
                </a:lnTo>
                <a:lnTo>
                  <a:pt x="258075" y="165099"/>
                </a:lnTo>
                <a:lnTo>
                  <a:pt x="265257" y="173989"/>
                </a:lnTo>
                <a:lnTo>
                  <a:pt x="291981" y="153669"/>
                </a:lnTo>
                <a:lnTo>
                  <a:pt x="282843" y="148589"/>
                </a:lnTo>
                <a:close/>
              </a:path>
              <a:path extrusionOk="0" h="397509" w="362584">
                <a:moveTo>
                  <a:pt x="117839" y="148589"/>
                </a:moveTo>
                <a:lnTo>
                  <a:pt x="102113" y="148589"/>
                </a:lnTo>
                <a:lnTo>
                  <a:pt x="111686" y="156209"/>
                </a:lnTo>
                <a:lnTo>
                  <a:pt x="117839" y="148589"/>
                </a:lnTo>
                <a:close/>
              </a:path>
              <a:path extrusionOk="0" h="397509" w="362584">
                <a:moveTo>
                  <a:pt x="292621" y="130809"/>
                </a:moveTo>
                <a:lnTo>
                  <a:pt x="246110" y="130809"/>
                </a:lnTo>
                <a:lnTo>
                  <a:pt x="253292" y="139699"/>
                </a:lnTo>
                <a:lnTo>
                  <a:pt x="243719" y="147319"/>
                </a:lnTo>
                <a:lnTo>
                  <a:pt x="250897" y="156209"/>
                </a:lnTo>
                <a:lnTo>
                  <a:pt x="260470" y="148589"/>
                </a:lnTo>
                <a:lnTo>
                  <a:pt x="282843" y="148589"/>
                </a:lnTo>
                <a:lnTo>
                  <a:pt x="266854" y="139699"/>
                </a:lnTo>
                <a:lnTo>
                  <a:pt x="274431" y="133349"/>
                </a:lnTo>
                <a:lnTo>
                  <a:pt x="293379" y="133349"/>
                </a:lnTo>
                <a:lnTo>
                  <a:pt x="292621" y="130809"/>
                </a:lnTo>
                <a:close/>
              </a:path>
              <a:path extrusionOk="0" h="397509" w="362584">
                <a:moveTo>
                  <a:pt x="191462" y="90169"/>
                </a:moveTo>
                <a:lnTo>
                  <a:pt x="171118" y="90169"/>
                </a:lnTo>
                <a:lnTo>
                  <a:pt x="171118" y="149859"/>
                </a:lnTo>
                <a:lnTo>
                  <a:pt x="191462" y="149859"/>
                </a:lnTo>
                <a:lnTo>
                  <a:pt x="191462" y="90169"/>
                </a:lnTo>
                <a:close/>
              </a:path>
              <a:path extrusionOk="0" h="397509" w="362584">
                <a:moveTo>
                  <a:pt x="301957" y="60959"/>
                </a:moveTo>
                <a:lnTo>
                  <a:pt x="191462" y="149859"/>
                </a:lnTo>
                <a:lnTo>
                  <a:pt x="223114" y="149859"/>
                </a:lnTo>
                <a:lnTo>
                  <a:pt x="246110" y="130809"/>
                </a:lnTo>
                <a:lnTo>
                  <a:pt x="292621" y="130809"/>
                </a:lnTo>
                <a:lnTo>
                  <a:pt x="289589" y="120649"/>
                </a:lnTo>
                <a:lnTo>
                  <a:pt x="296771" y="115569"/>
                </a:lnTo>
                <a:lnTo>
                  <a:pt x="312041" y="115569"/>
                </a:lnTo>
                <a:lnTo>
                  <a:pt x="307937" y="110489"/>
                </a:lnTo>
                <a:lnTo>
                  <a:pt x="317510" y="102869"/>
                </a:lnTo>
                <a:lnTo>
                  <a:pt x="316485" y="101599"/>
                </a:lnTo>
                <a:lnTo>
                  <a:pt x="300755" y="101599"/>
                </a:lnTo>
                <a:lnTo>
                  <a:pt x="293581" y="92709"/>
                </a:lnTo>
                <a:lnTo>
                  <a:pt x="314720" y="76199"/>
                </a:lnTo>
                <a:lnTo>
                  <a:pt x="312328" y="69849"/>
                </a:lnTo>
                <a:lnTo>
                  <a:pt x="307937" y="64769"/>
                </a:lnTo>
                <a:lnTo>
                  <a:pt x="301957" y="60959"/>
                </a:lnTo>
                <a:close/>
              </a:path>
              <a:path extrusionOk="0" h="397509" w="362584">
                <a:moveTo>
                  <a:pt x="128500" y="115569"/>
                </a:moveTo>
                <a:lnTo>
                  <a:pt x="65816" y="115569"/>
                </a:lnTo>
                <a:lnTo>
                  <a:pt x="72995" y="120649"/>
                </a:lnTo>
                <a:lnTo>
                  <a:pt x="65417" y="146049"/>
                </a:lnTo>
                <a:lnTo>
                  <a:pt x="88149" y="133349"/>
                </a:lnTo>
                <a:lnTo>
                  <a:pt x="114421" y="133349"/>
                </a:lnTo>
                <a:lnTo>
                  <a:pt x="116473" y="130809"/>
                </a:lnTo>
                <a:lnTo>
                  <a:pt x="147441" y="130809"/>
                </a:lnTo>
                <a:lnTo>
                  <a:pt x="128500" y="115569"/>
                </a:lnTo>
                <a:close/>
              </a:path>
              <a:path extrusionOk="0" h="397509" w="362584">
                <a:moveTo>
                  <a:pt x="293379" y="133349"/>
                </a:moveTo>
                <a:lnTo>
                  <a:pt x="274431" y="133349"/>
                </a:lnTo>
                <a:lnTo>
                  <a:pt x="297170" y="146049"/>
                </a:lnTo>
                <a:lnTo>
                  <a:pt x="293379" y="133349"/>
                </a:lnTo>
                <a:close/>
              </a:path>
              <a:path extrusionOk="0" h="397509" w="362584">
                <a:moveTo>
                  <a:pt x="37895" y="111759"/>
                </a:moveTo>
                <a:lnTo>
                  <a:pt x="30711" y="120649"/>
                </a:lnTo>
                <a:lnTo>
                  <a:pt x="57441" y="142239"/>
                </a:lnTo>
                <a:lnTo>
                  <a:pt x="64620" y="119379"/>
                </a:lnTo>
                <a:lnTo>
                  <a:pt x="47066" y="119379"/>
                </a:lnTo>
                <a:lnTo>
                  <a:pt x="37895" y="111759"/>
                </a:lnTo>
                <a:close/>
              </a:path>
              <a:path extrusionOk="0" h="397509" w="362584">
                <a:moveTo>
                  <a:pt x="312041" y="115569"/>
                </a:moveTo>
                <a:lnTo>
                  <a:pt x="296771" y="115569"/>
                </a:lnTo>
                <a:lnTo>
                  <a:pt x="305146" y="142239"/>
                </a:lnTo>
                <a:lnTo>
                  <a:pt x="331870" y="120649"/>
                </a:lnTo>
                <a:lnTo>
                  <a:pt x="330845" y="119379"/>
                </a:lnTo>
                <a:lnTo>
                  <a:pt x="315119" y="119379"/>
                </a:lnTo>
                <a:lnTo>
                  <a:pt x="312041" y="115569"/>
                </a:lnTo>
                <a:close/>
              </a:path>
              <a:path extrusionOk="0" h="397509" w="362584">
                <a:moveTo>
                  <a:pt x="52251" y="93979"/>
                </a:moveTo>
                <a:lnTo>
                  <a:pt x="45073" y="102869"/>
                </a:lnTo>
                <a:lnTo>
                  <a:pt x="54646" y="110489"/>
                </a:lnTo>
                <a:lnTo>
                  <a:pt x="47066" y="119379"/>
                </a:lnTo>
                <a:lnTo>
                  <a:pt x="64620" y="119379"/>
                </a:lnTo>
                <a:lnTo>
                  <a:pt x="65816" y="115569"/>
                </a:lnTo>
                <a:lnTo>
                  <a:pt x="128500" y="115569"/>
                </a:lnTo>
                <a:lnTo>
                  <a:pt x="111137" y="101599"/>
                </a:lnTo>
                <a:lnTo>
                  <a:pt x="61825" y="101599"/>
                </a:lnTo>
                <a:lnTo>
                  <a:pt x="52251" y="93979"/>
                </a:lnTo>
                <a:close/>
              </a:path>
              <a:path extrusionOk="0" h="397509" w="362584">
                <a:moveTo>
                  <a:pt x="324696" y="111759"/>
                </a:moveTo>
                <a:lnTo>
                  <a:pt x="315119" y="119379"/>
                </a:lnTo>
                <a:lnTo>
                  <a:pt x="330845" y="119379"/>
                </a:lnTo>
                <a:lnTo>
                  <a:pt x="324696" y="111759"/>
                </a:lnTo>
                <a:close/>
              </a:path>
              <a:path extrusionOk="0" h="397509" w="362584">
                <a:moveTo>
                  <a:pt x="60627" y="60959"/>
                </a:moveTo>
                <a:lnTo>
                  <a:pt x="54251" y="64769"/>
                </a:lnTo>
                <a:lnTo>
                  <a:pt x="49860" y="69849"/>
                </a:lnTo>
                <a:lnTo>
                  <a:pt x="47864" y="76199"/>
                </a:lnTo>
                <a:lnTo>
                  <a:pt x="68607" y="92709"/>
                </a:lnTo>
                <a:lnTo>
                  <a:pt x="61825" y="101599"/>
                </a:lnTo>
                <a:lnTo>
                  <a:pt x="111137" y="101599"/>
                </a:lnTo>
                <a:lnTo>
                  <a:pt x="60627" y="60959"/>
                </a:lnTo>
                <a:close/>
              </a:path>
              <a:path extrusionOk="0" h="397509" w="362584">
                <a:moveTo>
                  <a:pt x="125647" y="68579"/>
                </a:moveTo>
                <a:lnTo>
                  <a:pt x="125647" y="101599"/>
                </a:lnTo>
                <a:lnTo>
                  <a:pt x="137213" y="101599"/>
                </a:lnTo>
                <a:lnTo>
                  <a:pt x="137213" y="90169"/>
                </a:lnTo>
                <a:lnTo>
                  <a:pt x="191462" y="90169"/>
                </a:lnTo>
                <a:lnTo>
                  <a:pt x="191462" y="78739"/>
                </a:lnTo>
                <a:lnTo>
                  <a:pt x="151972" y="78739"/>
                </a:lnTo>
                <a:lnTo>
                  <a:pt x="125647" y="68579"/>
                </a:lnTo>
                <a:close/>
              </a:path>
              <a:path extrusionOk="0" h="397509" w="362584">
                <a:moveTo>
                  <a:pt x="159952" y="90169"/>
                </a:moveTo>
                <a:lnTo>
                  <a:pt x="148782" y="90169"/>
                </a:lnTo>
                <a:lnTo>
                  <a:pt x="148782" y="101599"/>
                </a:lnTo>
                <a:lnTo>
                  <a:pt x="159952" y="101599"/>
                </a:lnTo>
                <a:lnTo>
                  <a:pt x="159952" y="90169"/>
                </a:lnTo>
                <a:close/>
              </a:path>
              <a:path extrusionOk="0" h="397509" w="362584">
                <a:moveTo>
                  <a:pt x="310332" y="93979"/>
                </a:moveTo>
                <a:lnTo>
                  <a:pt x="300755" y="101599"/>
                </a:lnTo>
                <a:lnTo>
                  <a:pt x="316485" y="101599"/>
                </a:lnTo>
                <a:lnTo>
                  <a:pt x="310332" y="93979"/>
                </a:lnTo>
                <a:close/>
              </a:path>
              <a:path extrusionOk="0" h="397509" w="362584">
                <a:moveTo>
                  <a:pt x="191462" y="40639"/>
                </a:moveTo>
                <a:lnTo>
                  <a:pt x="151972" y="40639"/>
                </a:lnTo>
                <a:lnTo>
                  <a:pt x="151972" y="49529"/>
                </a:lnTo>
                <a:lnTo>
                  <a:pt x="127639" y="59689"/>
                </a:lnTo>
                <a:lnTo>
                  <a:pt x="151972" y="69849"/>
                </a:lnTo>
                <a:lnTo>
                  <a:pt x="151972" y="78739"/>
                </a:lnTo>
                <a:lnTo>
                  <a:pt x="191462" y="78739"/>
                </a:lnTo>
                <a:lnTo>
                  <a:pt x="191462" y="40639"/>
                </a:lnTo>
                <a:close/>
              </a:path>
              <a:path extrusionOk="0" h="397509" w="362584">
                <a:moveTo>
                  <a:pt x="137213" y="16509"/>
                </a:moveTo>
                <a:lnTo>
                  <a:pt x="125647" y="16509"/>
                </a:lnTo>
                <a:lnTo>
                  <a:pt x="125647" y="50799"/>
                </a:lnTo>
                <a:lnTo>
                  <a:pt x="151972" y="40639"/>
                </a:lnTo>
                <a:lnTo>
                  <a:pt x="191462" y="40639"/>
                </a:lnTo>
                <a:lnTo>
                  <a:pt x="191462" y="29209"/>
                </a:lnTo>
                <a:lnTo>
                  <a:pt x="137213" y="29209"/>
                </a:lnTo>
                <a:lnTo>
                  <a:pt x="137213" y="16509"/>
                </a:lnTo>
                <a:close/>
              </a:path>
              <a:path extrusionOk="0" h="397509" w="362584">
                <a:moveTo>
                  <a:pt x="159952" y="16509"/>
                </a:moveTo>
                <a:lnTo>
                  <a:pt x="148782" y="16509"/>
                </a:lnTo>
                <a:lnTo>
                  <a:pt x="148782" y="29209"/>
                </a:lnTo>
                <a:lnTo>
                  <a:pt x="159952" y="29209"/>
                </a:lnTo>
                <a:lnTo>
                  <a:pt x="159952" y="16509"/>
                </a:lnTo>
                <a:close/>
              </a:path>
              <a:path extrusionOk="0" h="397509" w="362584">
                <a:moveTo>
                  <a:pt x="184683" y="0"/>
                </a:moveTo>
                <a:lnTo>
                  <a:pt x="177904" y="0"/>
                </a:lnTo>
                <a:lnTo>
                  <a:pt x="174311" y="1269"/>
                </a:lnTo>
                <a:lnTo>
                  <a:pt x="171118" y="2539"/>
                </a:lnTo>
                <a:lnTo>
                  <a:pt x="171118" y="29209"/>
                </a:lnTo>
                <a:lnTo>
                  <a:pt x="191462" y="29209"/>
                </a:lnTo>
                <a:lnTo>
                  <a:pt x="191462" y="2539"/>
                </a:lnTo>
                <a:lnTo>
                  <a:pt x="188272" y="1269"/>
                </a:lnTo>
                <a:lnTo>
                  <a:pt x="18468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
          <p:cNvSpPr txBox="1"/>
          <p:nvPr/>
        </p:nvSpPr>
        <p:spPr>
          <a:xfrm>
            <a:off x="315476" y="1879275"/>
            <a:ext cx="5537400" cy="2844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900"/>
              <a:buFont typeface="Arial"/>
              <a:buNone/>
            </a:pPr>
            <a:r>
              <a:rPr lang="en-US" sz="2200">
                <a:solidFill>
                  <a:srgbClr val="C00000"/>
                </a:solidFill>
                <a:latin typeface="Trebuchet MS"/>
                <a:ea typeface="Trebuchet MS"/>
                <a:cs typeface="Trebuchet MS"/>
                <a:sym typeface="Trebuchet MS"/>
              </a:rPr>
              <a:t>Final</a:t>
            </a:r>
            <a:r>
              <a:rPr b="0" i="0" lang="en-US" sz="2200" u="none" cap="none" strike="noStrike">
                <a:solidFill>
                  <a:srgbClr val="C00000"/>
                </a:solidFill>
                <a:latin typeface="Trebuchet MS"/>
                <a:ea typeface="Trebuchet MS"/>
                <a:cs typeface="Trebuchet MS"/>
                <a:sym typeface="Trebuchet MS"/>
              </a:rPr>
              <a:t> Presentation</a:t>
            </a:r>
            <a:br>
              <a:rPr b="0" i="0" lang="en-US" sz="2200" u="none" cap="none" strike="noStrike">
                <a:solidFill>
                  <a:srgbClr val="000000"/>
                </a:solidFill>
                <a:latin typeface="Trebuchet MS"/>
                <a:ea typeface="Trebuchet MS"/>
                <a:cs typeface="Trebuchet MS"/>
                <a:sym typeface="Trebuchet MS"/>
              </a:rPr>
            </a:br>
            <a:endParaRPr b="0" i="0" sz="22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700"/>
              <a:buFont typeface="Arial"/>
              <a:buNone/>
            </a:pPr>
            <a:r>
              <a:rPr b="0" i="0" lang="en-US" sz="2000" u="none" cap="none" strike="noStrike">
                <a:solidFill>
                  <a:srgbClr val="000000"/>
                </a:solidFill>
                <a:latin typeface="Trebuchet MS"/>
                <a:ea typeface="Trebuchet MS"/>
                <a:cs typeface="Trebuchet MS"/>
                <a:sym typeface="Trebuchet MS"/>
              </a:rPr>
              <a:t>Aryan Uday Kulkarni</a:t>
            </a:r>
            <a:br>
              <a:rPr b="0" i="0" lang="en-US" sz="2000" u="none" cap="none" strike="noStrike">
                <a:solidFill>
                  <a:srgbClr val="000000"/>
                </a:solidFill>
                <a:latin typeface="Trebuchet MS"/>
                <a:ea typeface="Trebuchet MS"/>
                <a:cs typeface="Trebuchet MS"/>
                <a:sym typeface="Trebuchet MS"/>
              </a:rPr>
            </a:br>
            <a:endParaRPr b="0" i="0" sz="2000" u="none" cap="none" strike="noStrike">
              <a:solidFill>
                <a:srgbClr val="000000"/>
              </a:solidFill>
              <a:latin typeface="Trebuchet MS"/>
              <a:ea typeface="Trebuchet MS"/>
              <a:cs typeface="Trebuchet MS"/>
              <a:sym typeface="Trebuchet MS"/>
            </a:endParaRPr>
          </a:p>
          <a:p>
            <a:pPr indent="0" lvl="0" marL="12700" marR="5080" rtl="0" algn="l">
              <a:lnSpc>
                <a:spcPct val="100000"/>
              </a:lnSpc>
              <a:spcBef>
                <a:spcPts val="0"/>
              </a:spcBef>
              <a:spcAft>
                <a:spcPts val="0"/>
              </a:spcAft>
              <a:buClr>
                <a:srgbClr val="000000"/>
              </a:buClr>
              <a:buSzPts val="1700"/>
              <a:buFont typeface="Arial"/>
              <a:buNone/>
            </a:pPr>
            <a:r>
              <a:rPr b="0" i="0" lang="en-US" sz="2000" u="none" cap="none" strike="noStrike">
                <a:solidFill>
                  <a:srgbClr val="000000"/>
                </a:solidFill>
                <a:latin typeface="Trebuchet MS"/>
                <a:ea typeface="Trebuchet MS"/>
                <a:cs typeface="Trebuchet MS"/>
                <a:sym typeface="Trebuchet MS"/>
              </a:rPr>
              <a:t>Product Control Intern,</a:t>
            </a:r>
            <a:br>
              <a:rPr b="0" i="0" lang="en-US" sz="2000" u="none" cap="none" strike="noStrike">
                <a:solidFill>
                  <a:srgbClr val="000000"/>
                </a:solidFill>
                <a:latin typeface="Trebuchet MS"/>
                <a:ea typeface="Trebuchet MS"/>
                <a:cs typeface="Trebuchet MS"/>
                <a:sym typeface="Trebuchet MS"/>
              </a:rPr>
            </a:br>
            <a:r>
              <a:rPr b="0" i="0" lang="en-US" sz="2000" u="none" cap="none" strike="noStrike">
                <a:solidFill>
                  <a:srgbClr val="000000"/>
                </a:solidFill>
                <a:latin typeface="Trebuchet MS"/>
                <a:ea typeface="Trebuchet MS"/>
                <a:cs typeface="Trebuchet MS"/>
                <a:sym typeface="Trebuchet MS"/>
              </a:rPr>
              <a:t>Capital Markets Financing Team (EMEA),</a:t>
            </a:r>
            <a:br>
              <a:rPr b="0" i="0" lang="en-US" sz="2000" u="none" cap="none" strike="noStrike">
                <a:solidFill>
                  <a:srgbClr val="000000"/>
                </a:solidFill>
                <a:latin typeface="Trebuchet MS"/>
                <a:ea typeface="Trebuchet MS"/>
                <a:cs typeface="Trebuchet MS"/>
                <a:sym typeface="Trebuchet MS"/>
              </a:rPr>
            </a:br>
            <a:endParaRPr sz="2000">
              <a:latin typeface="Trebuchet MS"/>
              <a:ea typeface="Trebuchet MS"/>
              <a:cs typeface="Trebuchet MS"/>
              <a:sym typeface="Trebuchet MS"/>
            </a:endParaRPr>
          </a:p>
          <a:p>
            <a:pPr indent="0" lvl="0" marL="12700" marR="5080" rtl="0" algn="l">
              <a:lnSpc>
                <a:spcPct val="100000"/>
              </a:lnSpc>
              <a:spcBef>
                <a:spcPts val="0"/>
              </a:spcBef>
              <a:spcAft>
                <a:spcPts val="0"/>
              </a:spcAft>
              <a:buClr>
                <a:srgbClr val="000000"/>
              </a:buClr>
              <a:buSzPts val="1700"/>
              <a:buFont typeface="Arial"/>
              <a:buNone/>
            </a:pPr>
            <a:br>
              <a:rPr b="0" i="0" lang="en-US" sz="2000" u="none" cap="none" strike="noStrike">
                <a:solidFill>
                  <a:srgbClr val="000000"/>
                </a:solidFill>
                <a:latin typeface="Trebuchet MS"/>
                <a:ea typeface="Trebuchet MS"/>
                <a:cs typeface="Trebuchet MS"/>
                <a:sym typeface="Trebuchet MS"/>
              </a:rPr>
            </a:br>
            <a:r>
              <a:rPr b="0" i="0" lang="en-US" sz="2000" u="none" cap="none" strike="noStrike">
                <a:solidFill>
                  <a:srgbClr val="000000"/>
                </a:solidFill>
                <a:latin typeface="Trebuchet MS"/>
                <a:ea typeface="Trebuchet MS"/>
                <a:cs typeface="Trebuchet MS"/>
                <a:sym typeface="Trebuchet MS"/>
              </a:rPr>
              <a:t>UBS Business Solutions, Hyderabad</a:t>
            </a:r>
            <a:endParaRPr b="0" i="0" sz="2000" u="none" cap="none" strike="noStrike">
              <a:solidFill>
                <a:srgbClr val="000000"/>
              </a:solidFill>
              <a:latin typeface="Trebuchet MS"/>
              <a:ea typeface="Trebuchet MS"/>
              <a:cs typeface="Trebuchet MS"/>
              <a:sym typeface="Trebuchet MS"/>
            </a:endParaRPr>
          </a:p>
        </p:txBody>
      </p:sp>
      <p:sp>
        <p:nvSpPr>
          <p:cNvPr id="49" name="Google Shape;49;p1"/>
          <p:cNvSpPr/>
          <p:nvPr/>
        </p:nvSpPr>
        <p:spPr>
          <a:xfrm>
            <a:off x="823670" y="446407"/>
            <a:ext cx="671830" cy="274955"/>
          </a:xfrm>
          <a:custGeom>
            <a:rect b="b" l="l" r="r" t="t"/>
            <a:pathLst>
              <a:path extrusionOk="0" h="274955" w="671830">
                <a:moveTo>
                  <a:pt x="77697" y="18684"/>
                </a:moveTo>
                <a:lnTo>
                  <a:pt x="28655" y="18684"/>
                </a:lnTo>
                <a:lnTo>
                  <a:pt x="28709" y="178854"/>
                </a:lnTo>
                <a:lnTo>
                  <a:pt x="32453" y="217204"/>
                </a:lnTo>
                <a:lnTo>
                  <a:pt x="46636" y="247606"/>
                </a:lnTo>
                <a:lnTo>
                  <a:pt x="75387" y="267396"/>
                </a:lnTo>
                <a:lnTo>
                  <a:pt x="122890" y="274461"/>
                </a:lnTo>
                <a:lnTo>
                  <a:pt x="156058" y="271628"/>
                </a:lnTo>
                <a:lnTo>
                  <a:pt x="184999" y="259213"/>
                </a:lnTo>
                <a:lnTo>
                  <a:pt x="187725" y="255503"/>
                </a:lnTo>
                <a:lnTo>
                  <a:pt x="131408" y="255503"/>
                </a:lnTo>
                <a:lnTo>
                  <a:pt x="106401" y="250400"/>
                </a:lnTo>
                <a:lnTo>
                  <a:pt x="89784" y="235071"/>
                </a:lnTo>
                <a:lnTo>
                  <a:pt x="80551" y="209490"/>
                </a:lnTo>
                <a:lnTo>
                  <a:pt x="77697" y="173632"/>
                </a:lnTo>
                <a:lnTo>
                  <a:pt x="77697" y="18684"/>
                </a:lnTo>
                <a:close/>
              </a:path>
              <a:path extrusionOk="0" h="274955" w="671830">
                <a:moveTo>
                  <a:pt x="213240" y="18684"/>
                </a:moveTo>
                <a:lnTo>
                  <a:pt x="191214" y="18684"/>
                </a:lnTo>
                <a:lnTo>
                  <a:pt x="191214" y="178854"/>
                </a:lnTo>
                <a:lnTo>
                  <a:pt x="187528" y="214822"/>
                </a:lnTo>
                <a:lnTo>
                  <a:pt x="176401" y="238505"/>
                </a:lnTo>
                <a:lnTo>
                  <a:pt x="157729" y="251524"/>
                </a:lnTo>
                <a:lnTo>
                  <a:pt x="131408" y="255503"/>
                </a:lnTo>
                <a:lnTo>
                  <a:pt x="187725" y="255503"/>
                </a:lnTo>
                <a:lnTo>
                  <a:pt x="205473" y="231345"/>
                </a:lnTo>
                <a:lnTo>
                  <a:pt x="213240" y="182152"/>
                </a:lnTo>
                <a:lnTo>
                  <a:pt x="213240" y="18684"/>
                </a:lnTo>
                <a:close/>
              </a:path>
              <a:path extrusionOk="0" h="274955" w="671830">
                <a:moveTo>
                  <a:pt x="108562" y="3298"/>
                </a:moveTo>
                <a:lnTo>
                  <a:pt x="0" y="3298"/>
                </a:lnTo>
                <a:lnTo>
                  <a:pt x="0" y="18684"/>
                </a:lnTo>
                <a:lnTo>
                  <a:pt x="108562" y="18684"/>
                </a:lnTo>
                <a:lnTo>
                  <a:pt x="108562" y="3298"/>
                </a:lnTo>
                <a:close/>
              </a:path>
              <a:path extrusionOk="0" h="274955" w="671830">
                <a:moveTo>
                  <a:pt x="239401" y="3298"/>
                </a:moveTo>
                <a:lnTo>
                  <a:pt x="162273" y="3298"/>
                </a:lnTo>
                <a:lnTo>
                  <a:pt x="162273" y="18684"/>
                </a:lnTo>
                <a:lnTo>
                  <a:pt x="239401" y="18684"/>
                </a:lnTo>
                <a:lnTo>
                  <a:pt x="239401" y="3298"/>
                </a:lnTo>
                <a:close/>
              </a:path>
              <a:path extrusionOk="0" h="274955" w="671830">
                <a:moveTo>
                  <a:pt x="426939" y="136822"/>
                </a:moveTo>
                <a:lnTo>
                  <a:pt x="365036" y="136822"/>
                </a:lnTo>
                <a:lnTo>
                  <a:pt x="388320" y="141114"/>
                </a:lnTo>
                <a:lnTo>
                  <a:pt x="404343" y="153237"/>
                </a:lnTo>
                <a:lnTo>
                  <a:pt x="413597" y="172055"/>
                </a:lnTo>
                <a:lnTo>
                  <a:pt x="416573" y="196436"/>
                </a:lnTo>
                <a:lnTo>
                  <a:pt x="413001" y="221400"/>
                </a:lnTo>
                <a:lnTo>
                  <a:pt x="402272" y="240156"/>
                </a:lnTo>
                <a:lnTo>
                  <a:pt x="384365" y="251958"/>
                </a:lnTo>
                <a:lnTo>
                  <a:pt x="359262" y="256058"/>
                </a:lnTo>
                <a:lnTo>
                  <a:pt x="257043" y="256058"/>
                </a:lnTo>
                <a:lnTo>
                  <a:pt x="257043" y="271440"/>
                </a:lnTo>
                <a:lnTo>
                  <a:pt x="373839" y="271440"/>
                </a:lnTo>
                <a:lnTo>
                  <a:pt x="407569" y="267370"/>
                </a:lnTo>
                <a:lnTo>
                  <a:pt x="437155" y="254337"/>
                </a:lnTo>
                <a:lnTo>
                  <a:pt x="458161" y="231104"/>
                </a:lnTo>
                <a:lnTo>
                  <a:pt x="466149" y="196436"/>
                </a:lnTo>
                <a:lnTo>
                  <a:pt x="462852" y="175283"/>
                </a:lnTo>
                <a:lnTo>
                  <a:pt x="451341" y="154335"/>
                </a:lnTo>
                <a:lnTo>
                  <a:pt x="429191" y="137404"/>
                </a:lnTo>
                <a:lnTo>
                  <a:pt x="426939" y="136822"/>
                </a:lnTo>
                <a:close/>
              </a:path>
              <a:path extrusionOk="0" h="274955" w="671830">
                <a:moveTo>
                  <a:pt x="335026" y="18684"/>
                </a:moveTo>
                <a:lnTo>
                  <a:pt x="287089" y="18684"/>
                </a:lnTo>
                <a:lnTo>
                  <a:pt x="287089" y="256058"/>
                </a:lnTo>
                <a:lnTo>
                  <a:pt x="335026" y="256058"/>
                </a:lnTo>
                <a:lnTo>
                  <a:pt x="335026" y="136822"/>
                </a:lnTo>
                <a:lnTo>
                  <a:pt x="426939" y="136822"/>
                </a:lnTo>
                <a:lnTo>
                  <a:pt x="393976" y="128302"/>
                </a:lnTo>
                <a:lnTo>
                  <a:pt x="414030" y="121709"/>
                </a:lnTo>
                <a:lnTo>
                  <a:pt x="335026" y="121709"/>
                </a:lnTo>
                <a:lnTo>
                  <a:pt x="335026" y="18684"/>
                </a:lnTo>
                <a:close/>
              </a:path>
              <a:path extrusionOk="0" h="274955" w="671830">
                <a:moveTo>
                  <a:pt x="379363" y="3298"/>
                </a:moveTo>
                <a:lnTo>
                  <a:pt x="258968" y="3298"/>
                </a:lnTo>
                <a:lnTo>
                  <a:pt x="258968" y="18684"/>
                </a:lnTo>
                <a:lnTo>
                  <a:pt x="365606" y="18684"/>
                </a:lnTo>
                <a:lnTo>
                  <a:pt x="384029" y="23024"/>
                </a:lnTo>
                <a:lnTo>
                  <a:pt x="396899" y="34446"/>
                </a:lnTo>
                <a:lnTo>
                  <a:pt x="404449" y="50557"/>
                </a:lnTo>
                <a:lnTo>
                  <a:pt x="406914" y="68962"/>
                </a:lnTo>
                <a:lnTo>
                  <a:pt x="404162" y="88792"/>
                </a:lnTo>
                <a:lnTo>
                  <a:pt x="395856" y="105637"/>
                </a:lnTo>
                <a:lnTo>
                  <a:pt x="381924" y="117330"/>
                </a:lnTo>
                <a:lnTo>
                  <a:pt x="362291" y="121709"/>
                </a:lnTo>
                <a:lnTo>
                  <a:pt x="414030" y="121709"/>
                </a:lnTo>
                <a:lnTo>
                  <a:pt x="415975" y="121070"/>
                </a:lnTo>
                <a:lnTo>
                  <a:pt x="435912" y="108350"/>
                </a:lnTo>
                <a:lnTo>
                  <a:pt x="450377" y="90015"/>
                </a:lnTo>
                <a:lnTo>
                  <a:pt x="455956" y="65937"/>
                </a:lnTo>
                <a:lnTo>
                  <a:pt x="451196" y="41893"/>
                </a:lnTo>
                <a:lnTo>
                  <a:pt x="436879" y="21945"/>
                </a:lnTo>
                <a:lnTo>
                  <a:pt x="412953" y="8333"/>
                </a:lnTo>
                <a:lnTo>
                  <a:pt x="379363" y="3298"/>
                </a:lnTo>
                <a:close/>
              </a:path>
              <a:path extrusionOk="0" h="274955" w="671830">
                <a:moveTo>
                  <a:pt x="518756" y="187647"/>
                </a:moveTo>
                <a:lnTo>
                  <a:pt x="501684" y="187647"/>
                </a:lnTo>
                <a:lnTo>
                  <a:pt x="503733" y="252861"/>
                </a:lnTo>
                <a:lnTo>
                  <a:pt x="503801" y="255024"/>
                </a:lnTo>
                <a:lnTo>
                  <a:pt x="541397" y="270787"/>
                </a:lnTo>
                <a:lnTo>
                  <a:pt x="579916" y="274735"/>
                </a:lnTo>
                <a:lnTo>
                  <a:pt x="618498" y="268911"/>
                </a:lnTo>
                <a:lnTo>
                  <a:pt x="635023" y="259626"/>
                </a:lnTo>
                <a:lnTo>
                  <a:pt x="581591" y="259626"/>
                </a:lnTo>
                <a:lnTo>
                  <a:pt x="555459" y="255024"/>
                </a:lnTo>
                <a:lnTo>
                  <a:pt x="536019" y="241356"/>
                </a:lnTo>
                <a:lnTo>
                  <a:pt x="523657" y="218828"/>
                </a:lnTo>
                <a:lnTo>
                  <a:pt x="518756" y="187647"/>
                </a:lnTo>
                <a:close/>
              </a:path>
              <a:path extrusionOk="0" h="274955" w="671830">
                <a:moveTo>
                  <a:pt x="590394" y="0"/>
                </a:moveTo>
                <a:lnTo>
                  <a:pt x="555573" y="4637"/>
                </a:lnTo>
                <a:lnTo>
                  <a:pt x="556077" y="4637"/>
                </a:lnTo>
                <a:lnTo>
                  <a:pt x="529334" y="18182"/>
                </a:lnTo>
                <a:lnTo>
                  <a:pt x="528337" y="18749"/>
                </a:lnTo>
                <a:lnTo>
                  <a:pt x="509661" y="43002"/>
                </a:lnTo>
                <a:lnTo>
                  <a:pt x="502950" y="77474"/>
                </a:lnTo>
                <a:lnTo>
                  <a:pt x="502794" y="78360"/>
                </a:lnTo>
                <a:lnTo>
                  <a:pt x="503992" y="91556"/>
                </a:lnTo>
                <a:lnTo>
                  <a:pt x="523460" y="128576"/>
                </a:lnTo>
                <a:lnTo>
                  <a:pt x="562489" y="152300"/>
                </a:lnTo>
                <a:lnTo>
                  <a:pt x="572752" y="156053"/>
                </a:lnTo>
                <a:lnTo>
                  <a:pt x="596397" y="164998"/>
                </a:lnTo>
                <a:lnTo>
                  <a:pt x="614568" y="175490"/>
                </a:lnTo>
                <a:lnTo>
                  <a:pt x="626230" y="188969"/>
                </a:lnTo>
                <a:lnTo>
                  <a:pt x="630348" y="206878"/>
                </a:lnTo>
                <a:lnTo>
                  <a:pt x="627213" y="228105"/>
                </a:lnTo>
                <a:lnTo>
                  <a:pt x="627145" y="228566"/>
                </a:lnTo>
                <a:lnTo>
                  <a:pt x="617744" y="245204"/>
                </a:lnTo>
                <a:lnTo>
                  <a:pt x="602456" y="255866"/>
                </a:lnTo>
                <a:lnTo>
                  <a:pt x="581591" y="259626"/>
                </a:lnTo>
                <a:lnTo>
                  <a:pt x="635023" y="259626"/>
                </a:lnTo>
                <a:lnTo>
                  <a:pt x="647064" y="252861"/>
                </a:lnTo>
                <a:lnTo>
                  <a:pt x="664990" y="228105"/>
                </a:lnTo>
                <a:lnTo>
                  <a:pt x="671656" y="196163"/>
                </a:lnTo>
                <a:lnTo>
                  <a:pt x="670404" y="178387"/>
                </a:lnTo>
                <a:lnTo>
                  <a:pt x="647955" y="136548"/>
                </a:lnTo>
                <a:lnTo>
                  <a:pt x="609222" y="114099"/>
                </a:lnTo>
                <a:lnTo>
                  <a:pt x="596168" y="109348"/>
                </a:lnTo>
                <a:lnTo>
                  <a:pt x="575619" y="101559"/>
                </a:lnTo>
                <a:lnTo>
                  <a:pt x="557515" y="91556"/>
                </a:lnTo>
                <a:lnTo>
                  <a:pt x="544625" y="78360"/>
                </a:lnTo>
                <a:lnTo>
                  <a:pt x="539713" y="60993"/>
                </a:lnTo>
                <a:lnTo>
                  <a:pt x="542996" y="41537"/>
                </a:lnTo>
                <a:lnTo>
                  <a:pt x="552347" y="27130"/>
                </a:lnTo>
                <a:lnTo>
                  <a:pt x="567018" y="18182"/>
                </a:lnTo>
                <a:lnTo>
                  <a:pt x="586260" y="15108"/>
                </a:lnTo>
                <a:lnTo>
                  <a:pt x="652384" y="15108"/>
                </a:lnTo>
                <a:lnTo>
                  <a:pt x="640876" y="9854"/>
                </a:lnTo>
                <a:lnTo>
                  <a:pt x="623835" y="4637"/>
                </a:lnTo>
                <a:lnTo>
                  <a:pt x="606326" y="1223"/>
                </a:lnTo>
                <a:lnTo>
                  <a:pt x="590394" y="0"/>
                </a:lnTo>
                <a:close/>
              </a:path>
              <a:path extrusionOk="0" h="274955" w="671830">
                <a:moveTo>
                  <a:pt x="652384" y="15108"/>
                </a:moveTo>
                <a:lnTo>
                  <a:pt x="586260" y="15108"/>
                </a:lnTo>
                <a:lnTo>
                  <a:pt x="607278" y="18749"/>
                </a:lnTo>
                <a:lnTo>
                  <a:pt x="623447" y="30013"/>
                </a:lnTo>
                <a:lnTo>
                  <a:pt x="634451" y="49417"/>
                </a:lnTo>
                <a:lnTo>
                  <a:pt x="639971" y="77474"/>
                </a:lnTo>
                <a:lnTo>
                  <a:pt x="657043" y="77474"/>
                </a:lnTo>
                <a:lnTo>
                  <a:pt x="655465" y="18749"/>
                </a:lnTo>
                <a:lnTo>
                  <a:pt x="655404" y="16487"/>
                </a:lnTo>
                <a:lnTo>
                  <a:pt x="652384" y="15108"/>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txBox="1"/>
          <p:nvPr>
            <p:ph type="title"/>
          </p:nvPr>
        </p:nvSpPr>
        <p:spPr>
          <a:xfrm>
            <a:off x="315475" y="1113325"/>
            <a:ext cx="4581300" cy="567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lang="en-US" sz="3600">
                <a:latin typeface="Trebuchet MS"/>
                <a:ea typeface="Trebuchet MS"/>
                <a:cs typeface="Trebuchet MS"/>
                <a:sym typeface="Trebuchet MS"/>
              </a:rPr>
              <a:t>Practice School - II</a:t>
            </a:r>
            <a:endParaRPr b="1" sz="3600">
              <a:latin typeface="Trebuchet MS"/>
              <a:ea typeface="Trebuchet MS"/>
              <a:cs typeface="Trebuchet MS"/>
              <a:sym typeface="Trebuchet MS"/>
            </a:endParaRPr>
          </a:p>
        </p:txBody>
      </p:sp>
      <p:pic>
        <p:nvPicPr>
          <p:cNvPr id="51" name="Google Shape;51;p1"/>
          <p:cNvPicPr preferRelativeResize="0"/>
          <p:nvPr/>
        </p:nvPicPr>
        <p:blipFill rotWithShape="1">
          <a:blip r:embed="rId3">
            <a:alphaModFix/>
          </a:blip>
          <a:srcRect b="0" l="0" r="0" t="0"/>
          <a:stretch/>
        </p:blipFill>
        <p:spPr>
          <a:xfrm>
            <a:off x="5936679" y="1259383"/>
            <a:ext cx="2788919" cy="3023617"/>
          </a:xfrm>
          <a:prstGeom prst="rect">
            <a:avLst/>
          </a:prstGeom>
          <a:noFill/>
          <a:ln>
            <a:noFill/>
          </a:ln>
        </p:spPr>
      </p:pic>
      <p:sp>
        <p:nvSpPr>
          <p:cNvPr id="52" name="Google Shape;52;p1"/>
          <p:cNvSpPr txBox="1"/>
          <p:nvPr/>
        </p:nvSpPr>
        <p:spPr>
          <a:xfrm>
            <a:off x="315474" y="4797348"/>
            <a:ext cx="11964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lang="en-US" sz="1200">
                <a:latin typeface="Trebuchet MS"/>
                <a:ea typeface="Trebuchet MS"/>
                <a:cs typeface="Trebuchet MS"/>
                <a:sym typeface="Trebuchet MS"/>
              </a:rPr>
              <a:t>8th June </a:t>
            </a:r>
            <a:r>
              <a:rPr b="0" i="0" lang="en-US" sz="1200" u="none" cap="none" strike="noStrike">
                <a:solidFill>
                  <a:srgbClr val="000000"/>
                </a:solidFill>
                <a:latin typeface="Trebuchet MS"/>
                <a:ea typeface="Trebuchet MS"/>
                <a:cs typeface="Trebuchet MS"/>
                <a:sym typeface="Trebuchet MS"/>
              </a:rPr>
              <a:t>2025</a:t>
            </a:r>
            <a:endParaRPr b="0" i="0" sz="1200" u="none" cap="none" strike="noStrike">
              <a:solidFill>
                <a:srgbClr val="000000"/>
              </a:solidFill>
              <a:latin typeface="Trebuchet MS"/>
              <a:ea typeface="Trebuchet MS"/>
              <a:cs typeface="Trebuchet MS"/>
              <a:sym typeface="Trebuchet MS"/>
            </a:endParaRPr>
          </a:p>
        </p:txBody>
      </p:sp>
      <p:pic>
        <p:nvPicPr>
          <p:cNvPr id="53" name="Google Shape;53;p1"/>
          <p:cNvPicPr preferRelativeResize="0"/>
          <p:nvPr/>
        </p:nvPicPr>
        <p:blipFill rotWithShape="1">
          <a:blip r:embed="rId4">
            <a:alphaModFix/>
          </a:blip>
          <a:srcRect b="0" l="0" r="0" t="0"/>
          <a:stretch/>
        </p:blipFill>
        <p:spPr>
          <a:xfrm>
            <a:off x="7679547" y="180950"/>
            <a:ext cx="789426" cy="789426"/>
          </a:xfrm>
          <a:prstGeom prst="rect">
            <a:avLst/>
          </a:prstGeom>
          <a:noFill/>
          <a:ln>
            <a:noFill/>
          </a:ln>
        </p:spPr>
      </p:pic>
      <p:sp>
        <p:nvSpPr>
          <p:cNvPr id="54" name="Google Shape;54;p1"/>
          <p:cNvSpPr txBox="1"/>
          <p:nvPr/>
        </p:nvSpPr>
        <p:spPr>
          <a:xfrm>
            <a:off x="4951125" y="4572000"/>
            <a:ext cx="4035600" cy="474600"/>
          </a:xfrm>
          <a:prstGeom prst="rect">
            <a:avLst/>
          </a:prstGeom>
          <a:noFill/>
          <a:ln>
            <a:noFill/>
          </a:ln>
        </p:spPr>
        <p:txBody>
          <a:bodyPr anchorCtr="0" anchor="t" bIns="0" lIns="0" spcFirstLastPara="1" rIns="0" wrap="square" tIns="12700">
            <a:spAutoFit/>
          </a:bodyPr>
          <a:lstStyle/>
          <a:p>
            <a:pPr indent="0" lvl="0" marL="12700" marR="0" rtl="0" algn="r">
              <a:lnSpc>
                <a:spcPct val="100000"/>
              </a:lnSpc>
              <a:spcBef>
                <a:spcPts val="0"/>
              </a:spcBef>
              <a:spcAft>
                <a:spcPts val="0"/>
              </a:spcAft>
              <a:buClr>
                <a:srgbClr val="000000"/>
              </a:buClr>
              <a:buSzPts val="1200"/>
              <a:buFont typeface="Arial"/>
              <a:buNone/>
            </a:pPr>
            <a:r>
              <a:rPr b="1" i="0" lang="en-US" sz="1500" u="none" cap="none" strike="noStrike">
                <a:solidFill>
                  <a:srgbClr val="000000"/>
                </a:solidFill>
                <a:latin typeface="Trebuchet MS"/>
                <a:ea typeface="Trebuchet MS"/>
                <a:cs typeface="Trebuchet MS"/>
                <a:sym typeface="Trebuchet MS"/>
              </a:rPr>
              <a:t>Line Manager</a:t>
            </a:r>
            <a:r>
              <a:rPr b="0" i="0" lang="en-US" sz="1500" u="none" cap="none" strike="noStrike">
                <a:solidFill>
                  <a:srgbClr val="000000"/>
                </a:solidFill>
                <a:latin typeface="Trebuchet MS"/>
                <a:ea typeface="Trebuchet MS"/>
                <a:cs typeface="Trebuchet MS"/>
                <a:sym typeface="Trebuchet MS"/>
              </a:rPr>
              <a:t> : Mrs. Soumya Pandey</a:t>
            </a:r>
            <a:br>
              <a:rPr b="0" i="0" lang="en-US" sz="1500" u="none" cap="none" strike="noStrike">
                <a:solidFill>
                  <a:srgbClr val="000000"/>
                </a:solidFill>
                <a:latin typeface="Trebuchet MS"/>
                <a:ea typeface="Trebuchet MS"/>
                <a:cs typeface="Trebuchet MS"/>
                <a:sym typeface="Trebuchet MS"/>
              </a:rPr>
            </a:br>
            <a:r>
              <a:rPr b="1" i="0" lang="en-US" sz="1500" u="none" cap="none" strike="noStrike">
                <a:solidFill>
                  <a:srgbClr val="000000"/>
                </a:solidFill>
                <a:latin typeface="Trebuchet MS"/>
                <a:ea typeface="Trebuchet MS"/>
                <a:cs typeface="Trebuchet MS"/>
                <a:sym typeface="Trebuchet MS"/>
              </a:rPr>
              <a:t>Instructor-in- Charge</a:t>
            </a:r>
            <a:r>
              <a:rPr b="0" i="0" lang="en-US" sz="1500" u="none" cap="none" strike="noStrike">
                <a:solidFill>
                  <a:srgbClr val="000000"/>
                </a:solidFill>
                <a:latin typeface="Trebuchet MS"/>
                <a:ea typeface="Trebuchet MS"/>
                <a:cs typeface="Trebuchet MS"/>
                <a:sym typeface="Trebuchet MS"/>
              </a:rPr>
              <a:t> : Dr. Niranjan Swain</a:t>
            </a:r>
            <a:endParaRPr b="0" i="0" sz="1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 name="Shape 58"/>
        <p:cNvGrpSpPr/>
        <p:nvPr/>
      </p:nvGrpSpPr>
      <p:grpSpPr>
        <a:xfrm>
          <a:off x="0" y="0"/>
          <a:ext cx="0" cy="0"/>
          <a:chOff x="0" y="0"/>
          <a:chExt cx="0" cy="0"/>
        </a:xfrm>
      </p:grpSpPr>
      <p:sp>
        <p:nvSpPr>
          <p:cNvPr id="59" name="Google Shape;59;p2"/>
          <p:cNvSpPr/>
          <p:nvPr/>
        </p:nvSpPr>
        <p:spPr>
          <a:xfrm>
            <a:off x="394659" y="756244"/>
            <a:ext cx="8354695" cy="0"/>
          </a:xfrm>
          <a:custGeom>
            <a:rect b="b" l="l" r="r" t="t"/>
            <a:pathLst>
              <a:path extrusionOk="0" h="120000" w="8354695">
                <a:moveTo>
                  <a:pt x="0" y="0"/>
                </a:moveTo>
                <a:lnTo>
                  <a:pt x="8354326" y="0"/>
                </a:lnTo>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txBox="1"/>
          <p:nvPr>
            <p:ph type="title"/>
          </p:nvPr>
        </p:nvSpPr>
        <p:spPr>
          <a:xfrm>
            <a:off x="369824" y="222631"/>
            <a:ext cx="8151000" cy="4137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SzPts val="1400"/>
              <a:buNone/>
            </a:pPr>
            <a:r>
              <a:rPr b="1" i="1" lang="en-US"/>
              <a:t>Team and Function </a:t>
            </a:r>
            <a:r>
              <a:rPr b="1" i="1" lang="en-US">
                <a:solidFill>
                  <a:srgbClr val="E60000"/>
                </a:solidFill>
              </a:rPr>
              <a:t>- What work do we do?</a:t>
            </a:r>
            <a:endParaRPr b="1" i="1">
              <a:solidFill>
                <a:srgbClr val="E60000"/>
              </a:solidFill>
            </a:endParaRPr>
          </a:p>
        </p:txBody>
      </p:sp>
      <p:grpSp>
        <p:nvGrpSpPr>
          <p:cNvPr id="61" name="Google Shape;61;p2"/>
          <p:cNvGrpSpPr/>
          <p:nvPr/>
        </p:nvGrpSpPr>
        <p:grpSpPr>
          <a:xfrm>
            <a:off x="383718" y="4718033"/>
            <a:ext cx="708805" cy="255269"/>
            <a:chOff x="383718" y="4718033"/>
            <a:chExt cx="708805" cy="255269"/>
          </a:xfrm>
        </p:grpSpPr>
        <p:pic>
          <p:nvPicPr>
            <p:cNvPr id="62" name="Google Shape;62;p2"/>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63" name="Google Shape;63;p2"/>
            <p:cNvSpPr/>
            <p:nvPr/>
          </p:nvSpPr>
          <p:spPr>
            <a:xfrm>
              <a:off x="660723" y="4754477"/>
              <a:ext cx="431800" cy="177164"/>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4" name="Google Shape;64;p2"/>
          <p:cNvPicPr preferRelativeResize="0"/>
          <p:nvPr/>
        </p:nvPicPr>
        <p:blipFill rotWithShape="1">
          <a:blip r:embed="rId4">
            <a:alphaModFix/>
          </a:blip>
          <a:srcRect b="0" l="0" r="0" t="0"/>
          <a:stretch/>
        </p:blipFill>
        <p:spPr>
          <a:xfrm>
            <a:off x="8152275" y="90800"/>
            <a:ext cx="597075" cy="597075"/>
          </a:xfrm>
          <a:prstGeom prst="rect">
            <a:avLst/>
          </a:prstGeom>
          <a:noFill/>
          <a:ln>
            <a:noFill/>
          </a:ln>
        </p:spPr>
      </p:pic>
      <p:sp>
        <p:nvSpPr>
          <p:cNvPr id="65" name="Google Shape;65;p2"/>
          <p:cNvSpPr txBox="1"/>
          <p:nvPr/>
        </p:nvSpPr>
        <p:spPr>
          <a:xfrm>
            <a:off x="8433307" y="4832096"/>
            <a:ext cx="325200" cy="10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7E7E7E"/>
                </a:solidFill>
                <a:latin typeface="Trebuchet MS"/>
                <a:ea typeface="Trebuchet MS"/>
                <a:cs typeface="Trebuchet MS"/>
                <a:sym typeface="Trebuchet MS"/>
              </a:rPr>
              <a:t>PAGE </a:t>
            </a:r>
            <a:r>
              <a:rPr b="0" i="0" lang="en-US" sz="600" u="none" cap="none" strike="noStrike">
                <a:solidFill>
                  <a:srgbClr val="000000"/>
                </a:solidFill>
                <a:latin typeface="Trebuchet MS"/>
                <a:ea typeface="Trebuchet MS"/>
                <a:cs typeface="Trebuchet MS"/>
                <a:sym typeface="Trebuchet MS"/>
              </a:rPr>
              <a:t>1</a:t>
            </a:r>
            <a:endParaRPr b="0" i="0" sz="600" u="none" cap="none" strike="noStrike">
              <a:solidFill>
                <a:srgbClr val="000000"/>
              </a:solidFill>
              <a:latin typeface="Trebuchet MS"/>
              <a:ea typeface="Trebuchet MS"/>
              <a:cs typeface="Trebuchet MS"/>
              <a:sym typeface="Trebuchet MS"/>
            </a:endParaRPr>
          </a:p>
        </p:txBody>
      </p:sp>
      <p:grpSp>
        <p:nvGrpSpPr>
          <p:cNvPr id="66" name="Google Shape;66;p2"/>
          <p:cNvGrpSpPr/>
          <p:nvPr/>
        </p:nvGrpSpPr>
        <p:grpSpPr>
          <a:xfrm>
            <a:off x="219543" y="835878"/>
            <a:ext cx="3883055" cy="3882167"/>
            <a:chOff x="2604900" y="605090"/>
            <a:chExt cx="3934200" cy="3933300"/>
          </a:xfrm>
        </p:grpSpPr>
        <p:sp>
          <p:nvSpPr>
            <p:cNvPr id="67" name="Google Shape;67;p2"/>
            <p:cNvSpPr/>
            <p:nvPr/>
          </p:nvSpPr>
          <p:spPr>
            <a:xfrm>
              <a:off x="2604900" y="605090"/>
              <a:ext cx="3934200" cy="3933300"/>
            </a:xfrm>
            <a:prstGeom prst="ellipse">
              <a:avLst/>
            </a:prstGeom>
            <a:solidFill>
              <a:srgbClr val="801F1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txBox="1"/>
            <p:nvPr/>
          </p:nvSpPr>
          <p:spPr>
            <a:xfrm>
              <a:off x="3608400" y="687876"/>
              <a:ext cx="1927200" cy="687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US" sz="1200" u="none" cap="none" strike="noStrike">
                  <a:solidFill>
                    <a:srgbClr val="FFFFFF"/>
                  </a:solidFill>
                  <a:latin typeface="Helvetica Neue"/>
                  <a:ea typeface="Helvetica Neue"/>
                  <a:cs typeface="Helvetica Neue"/>
                  <a:sym typeface="Helvetica Neue"/>
                </a:rPr>
                <a:t>UBS Investment Bank</a:t>
              </a:r>
              <a:endParaRPr b="1" i="0" sz="1200" u="none" cap="none" strike="noStrike">
                <a:solidFill>
                  <a:srgbClr val="FFFFFF"/>
                </a:solidFill>
                <a:latin typeface="Helvetica Neue"/>
                <a:ea typeface="Helvetica Neue"/>
                <a:cs typeface="Helvetica Neue"/>
                <a:sym typeface="Helvetica Neue"/>
              </a:endParaRPr>
            </a:p>
          </p:txBody>
        </p:sp>
      </p:grpSp>
      <p:grpSp>
        <p:nvGrpSpPr>
          <p:cNvPr id="69" name="Google Shape;69;p2"/>
          <p:cNvGrpSpPr/>
          <p:nvPr/>
        </p:nvGrpSpPr>
        <p:grpSpPr>
          <a:xfrm>
            <a:off x="571457" y="1539411"/>
            <a:ext cx="3179226" cy="3178633"/>
            <a:chOff x="2961450" y="1317890"/>
            <a:chExt cx="3221100" cy="3220500"/>
          </a:xfrm>
        </p:grpSpPr>
        <p:sp>
          <p:nvSpPr>
            <p:cNvPr id="70" name="Google Shape;70;p2"/>
            <p:cNvSpPr/>
            <p:nvPr/>
          </p:nvSpPr>
          <p:spPr>
            <a:xfrm>
              <a:off x="2961450" y="1317890"/>
              <a:ext cx="3221100" cy="3220500"/>
            </a:xfrm>
            <a:prstGeom prst="ellipse">
              <a:avLst/>
            </a:prstGeom>
            <a:solidFill>
              <a:srgbClr val="A7291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txBox="1"/>
            <p:nvPr/>
          </p:nvSpPr>
          <p:spPr>
            <a:xfrm>
              <a:off x="3783000" y="1557225"/>
              <a:ext cx="1578000" cy="56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US" sz="1200" u="none" cap="none" strike="noStrike">
                  <a:solidFill>
                    <a:srgbClr val="FFFFFF"/>
                  </a:solidFill>
                  <a:latin typeface="Helvetica Neue"/>
                  <a:ea typeface="Helvetica Neue"/>
                  <a:cs typeface="Helvetica Neue"/>
                  <a:sym typeface="Helvetica Neue"/>
                </a:rPr>
                <a:t>Global Markets Financing</a:t>
              </a:r>
              <a:endParaRPr b="1" i="0" sz="1200" u="none" cap="none" strike="noStrike">
                <a:solidFill>
                  <a:srgbClr val="FFFFFF"/>
                </a:solidFill>
                <a:latin typeface="Helvetica Neue"/>
                <a:ea typeface="Helvetica Neue"/>
                <a:cs typeface="Helvetica Neue"/>
                <a:sym typeface="Helvetica Neue"/>
              </a:endParaRPr>
            </a:p>
          </p:txBody>
        </p:sp>
      </p:grpSp>
      <p:grpSp>
        <p:nvGrpSpPr>
          <p:cNvPr id="72" name="Google Shape;72;p2"/>
          <p:cNvGrpSpPr/>
          <p:nvPr/>
        </p:nvGrpSpPr>
        <p:grpSpPr>
          <a:xfrm>
            <a:off x="1005984" y="2407872"/>
            <a:ext cx="2310172" cy="2310172"/>
            <a:chOff x="3401700" y="2197790"/>
            <a:chExt cx="2340600" cy="2340600"/>
          </a:xfrm>
        </p:grpSpPr>
        <p:sp>
          <p:nvSpPr>
            <p:cNvPr id="73" name="Google Shape;73;p2"/>
            <p:cNvSpPr/>
            <p:nvPr/>
          </p:nvSpPr>
          <p:spPr>
            <a:xfrm>
              <a:off x="3401700" y="2197790"/>
              <a:ext cx="2340600" cy="2340600"/>
            </a:xfrm>
            <a:prstGeom prst="ellipse">
              <a:avLst/>
            </a:prstGeom>
            <a:solidFill>
              <a:srgbClr val="B02B2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txBox="1"/>
            <p:nvPr/>
          </p:nvSpPr>
          <p:spPr>
            <a:xfrm>
              <a:off x="3833400" y="2483075"/>
              <a:ext cx="1477200" cy="53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US" sz="1300" u="none" cap="none" strike="noStrike">
                  <a:solidFill>
                    <a:srgbClr val="FFFFFF"/>
                  </a:solidFill>
                  <a:latin typeface="Helvetica Neue"/>
                  <a:ea typeface="Helvetica Neue"/>
                  <a:cs typeface="Helvetica Neue"/>
                  <a:sym typeface="Helvetica Neue"/>
                </a:rPr>
                <a:t>Capital Markets Financing</a:t>
              </a:r>
              <a:endParaRPr b="1" i="0" sz="1300" u="none" cap="none" strike="noStrike">
                <a:solidFill>
                  <a:srgbClr val="FFFFFF"/>
                </a:solidFill>
                <a:latin typeface="Helvetica Neue"/>
                <a:ea typeface="Helvetica Neue"/>
                <a:cs typeface="Helvetica Neue"/>
                <a:sym typeface="Helvetica Neue"/>
              </a:endParaRPr>
            </a:p>
          </p:txBody>
        </p:sp>
      </p:grpSp>
      <p:grpSp>
        <p:nvGrpSpPr>
          <p:cNvPr id="75" name="Google Shape;75;p2"/>
          <p:cNvGrpSpPr/>
          <p:nvPr/>
        </p:nvGrpSpPr>
        <p:grpSpPr>
          <a:xfrm>
            <a:off x="1432220" y="3260048"/>
            <a:ext cx="1457700" cy="1457996"/>
            <a:chOff x="3833550" y="3061190"/>
            <a:chExt cx="1476900" cy="1477200"/>
          </a:xfrm>
        </p:grpSpPr>
        <p:sp>
          <p:nvSpPr>
            <p:cNvPr id="76" name="Google Shape;76;p2"/>
            <p:cNvSpPr/>
            <p:nvPr/>
          </p:nvSpPr>
          <p:spPr>
            <a:xfrm>
              <a:off x="3833550" y="3061190"/>
              <a:ext cx="1476900" cy="1477200"/>
            </a:xfrm>
            <a:prstGeom prst="ellipse">
              <a:avLst/>
            </a:prstGeom>
            <a:solidFill>
              <a:srgbClr val="BE2F2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3957000" y="3499463"/>
              <a:ext cx="1230000" cy="649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US" u="none" cap="none" strike="noStrike">
                  <a:solidFill>
                    <a:srgbClr val="FFFFFF"/>
                  </a:solidFill>
                  <a:latin typeface="Helvetica Neue"/>
                  <a:ea typeface="Helvetica Neue"/>
                  <a:cs typeface="Helvetica Neue"/>
                  <a:sym typeface="Helvetica Neue"/>
                </a:rPr>
                <a:t>CMF EMEA</a:t>
              </a:r>
              <a:endParaRPr b="1" i="0" u="none" cap="none" strike="noStrike">
                <a:solidFill>
                  <a:srgbClr val="FFFFFF"/>
                </a:solidFill>
                <a:latin typeface="Helvetica Neue"/>
                <a:ea typeface="Helvetica Neue"/>
                <a:cs typeface="Helvetica Neue"/>
                <a:sym typeface="Helvetica Neue"/>
              </a:endParaRPr>
            </a:p>
          </p:txBody>
        </p:sp>
      </p:grpSp>
      <p:sp>
        <p:nvSpPr>
          <p:cNvPr id="78" name="Google Shape;78;p2"/>
          <p:cNvSpPr/>
          <p:nvPr/>
        </p:nvSpPr>
        <p:spPr>
          <a:xfrm>
            <a:off x="4088725" y="1397389"/>
            <a:ext cx="2585400" cy="5256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600" u="none" cap="none" strike="noStrike">
                <a:solidFill>
                  <a:srgbClr val="FFFFFF"/>
                </a:solidFill>
                <a:latin typeface="Roboto"/>
                <a:ea typeface="Roboto"/>
                <a:cs typeface="Roboto"/>
                <a:sym typeface="Roboto"/>
              </a:rPr>
              <a:t>Product Control Team</a:t>
            </a:r>
            <a:endParaRPr b="0" i="0" sz="1600" u="none" cap="none" strike="noStrike">
              <a:solidFill>
                <a:srgbClr val="FFFFFF"/>
              </a:solidFill>
              <a:latin typeface="Roboto"/>
              <a:ea typeface="Roboto"/>
              <a:cs typeface="Roboto"/>
              <a:sym typeface="Roboto"/>
            </a:endParaRPr>
          </a:p>
        </p:txBody>
      </p:sp>
      <p:sp>
        <p:nvSpPr>
          <p:cNvPr id="79" name="Google Shape;79;p2"/>
          <p:cNvSpPr/>
          <p:nvPr/>
        </p:nvSpPr>
        <p:spPr>
          <a:xfrm>
            <a:off x="5138067" y="2288375"/>
            <a:ext cx="1617900" cy="5235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2100" u="none" cap="none" strike="noStrike">
                <a:solidFill>
                  <a:srgbClr val="FFFFFF"/>
                </a:solidFill>
                <a:latin typeface="Roboto"/>
                <a:ea typeface="Roboto"/>
                <a:cs typeface="Roboto"/>
                <a:sym typeface="Roboto"/>
              </a:rPr>
              <a:t>P&amp;Ls</a:t>
            </a:r>
            <a:endParaRPr b="0" i="0" sz="2100" u="none" cap="none" strike="noStrike">
              <a:solidFill>
                <a:srgbClr val="FFFFFF"/>
              </a:solidFill>
              <a:latin typeface="Roboto"/>
              <a:ea typeface="Roboto"/>
              <a:cs typeface="Roboto"/>
              <a:sym typeface="Roboto"/>
            </a:endParaRPr>
          </a:p>
        </p:txBody>
      </p:sp>
      <p:sp>
        <p:nvSpPr>
          <p:cNvPr id="80" name="Google Shape;80;p2"/>
          <p:cNvSpPr/>
          <p:nvPr/>
        </p:nvSpPr>
        <p:spPr>
          <a:xfrm>
            <a:off x="5138086" y="3016980"/>
            <a:ext cx="1617900" cy="7371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700" u="none" cap="none" strike="noStrike">
                <a:solidFill>
                  <a:srgbClr val="FFFFFF"/>
                </a:solidFill>
                <a:latin typeface="Roboto"/>
                <a:ea typeface="Roboto"/>
                <a:cs typeface="Roboto"/>
                <a:sym typeface="Roboto"/>
              </a:rPr>
              <a:t>Balance Sheet</a:t>
            </a:r>
            <a:endParaRPr sz="1700">
              <a:solidFill>
                <a:srgbClr val="FFFFFF"/>
              </a:solidFill>
              <a:latin typeface="Roboto"/>
              <a:ea typeface="Roboto"/>
              <a:cs typeface="Roboto"/>
              <a:sym typeface="Roboto"/>
            </a:endParaRPr>
          </a:p>
        </p:txBody>
      </p:sp>
      <p:sp>
        <p:nvSpPr>
          <p:cNvPr id="81" name="Google Shape;81;p2"/>
          <p:cNvSpPr/>
          <p:nvPr/>
        </p:nvSpPr>
        <p:spPr>
          <a:xfrm>
            <a:off x="5117683" y="3971999"/>
            <a:ext cx="1659000" cy="635700"/>
          </a:xfrm>
          <a:prstGeom prst="roundRect">
            <a:avLst>
              <a:gd fmla="val 16667" name="adj"/>
            </a:avLst>
          </a:prstGeom>
          <a:solidFill>
            <a:srgbClr val="B6124A"/>
          </a:solidFill>
          <a:ln cap="flat" cmpd="sng" w="9525">
            <a:solidFill>
              <a:srgbClr val="E11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US" sz="1000" u="none" cap="none" strike="noStrike">
                <a:solidFill>
                  <a:srgbClr val="FFFFFF"/>
                </a:solidFill>
                <a:latin typeface="Roboto"/>
                <a:ea typeface="Roboto"/>
                <a:cs typeface="Roboto"/>
                <a:sym typeface="Roboto"/>
              </a:rPr>
              <a:t>Other Risk Mgmt Processes</a:t>
            </a:r>
            <a:endParaRPr b="0" i="0" sz="1000" u="none" cap="none" strike="noStrike">
              <a:solidFill>
                <a:srgbClr val="FFFFFF"/>
              </a:solidFill>
              <a:latin typeface="Roboto"/>
              <a:ea typeface="Roboto"/>
              <a:cs typeface="Roboto"/>
              <a:sym typeface="Roboto"/>
            </a:endParaRPr>
          </a:p>
        </p:txBody>
      </p:sp>
      <p:cxnSp>
        <p:nvCxnSpPr>
          <p:cNvPr id="82" name="Google Shape;82;p2"/>
          <p:cNvCxnSpPr>
            <a:stCxn id="81" idx="1"/>
            <a:endCxn id="78" idx="2"/>
          </p:cNvCxnSpPr>
          <p:nvPr/>
        </p:nvCxnSpPr>
        <p:spPr>
          <a:xfrm flipH="1" rot="10800000">
            <a:off x="5117683" y="1922849"/>
            <a:ext cx="263700" cy="2367000"/>
          </a:xfrm>
          <a:prstGeom prst="bentConnector4">
            <a:avLst>
              <a:gd fmla="val -90301" name="adj1"/>
              <a:gd fmla="val 91341" name="adj2"/>
            </a:avLst>
          </a:prstGeom>
          <a:noFill/>
          <a:ln cap="flat" cmpd="sng" w="19050">
            <a:solidFill>
              <a:srgbClr val="C2C2C2"/>
            </a:solidFill>
            <a:prstDash val="solid"/>
            <a:round/>
            <a:headEnd len="sm" w="sm" type="none"/>
            <a:tailEnd len="sm" w="sm" type="none"/>
          </a:ln>
        </p:spPr>
      </p:cxnSp>
      <p:sp>
        <p:nvSpPr>
          <p:cNvPr id="83" name="Google Shape;83;p2"/>
          <p:cNvSpPr/>
          <p:nvPr/>
        </p:nvSpPr>
        <p:spPr>
          <a:xfrm>
            <a:off x="7194125" y="1501975"/>
            <a:ext cx="1819800" cy="321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a:latin typeface="Trebuchet MS"/>
              <a:ea typeface="Trebuchet MS"/>
              <a:cs typeface="Trebuchet MS"/>
              <a:sym typeface="Trebuchet MS"/>
            </a:endParaRPr>
          </a:p>
        </p:txBody>
      </p:sp>
      <p:sp>
        <p:nvSpPr>
          <p:cNvPr id="84" name="Google Shape;84;p2"/>
          <p:cNvSpPr txBox="1"/>
          <p:nvPr/>
        </p:nvSpPr>
        <p:spPr>
          <a:xfrm>
            <a:off x="6993300" y="794113"/>
            <a:ext cx="2150700" cy="25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solidFill>
                  <a:srgbClr val="E60000"/>
                </a:solidFill>
                <a:latin typeface="Trebuchet MS"/>
                <a:ea typeface="Trebuchet MS"/>
                <a:cs typeface="Trebuchet MS"/>
                <a:sym typeface="Trebuchet MS"/>
              </a:rPr>
              <a:t>MY RESPONSIBILITIES</a:t>
            </a:r>
            <a:endParaRPr b="1" sz="1900">
              <a:solidFill>
                <a:srgbClr val="E60000"/>
              </a:solidFill>
              <a:latin typeface="Trebuchet MS"/>
              <a:ea typeface="Trebuchet MS"/>
              <a:cs typeface="Trebuchet MS"/>
              <a:sym typeface="Trebuchet MS"/>
            </a:endParaRPr>
          </a:p>
        </p:txBody>
      </p:sp>
      <p:sp>
        <p:nvSpPr>
          <p:cNvPr id="85" name="Google Shape;85;p2"/>
          <p:cNvSpPr txBox="1"/>
          <p:nvPr/>
        </p:nvSpPr>
        <p:spPr>
          <a:xfrm>
            <a:off x="7274525" y="1580525"/>
            <a:ext cx="1659000" cy="24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latin typeface="Trebuchet MS"/>
                <a:ea typeface="Trebuchet MS"/>
                <a:cs typeface="Trebuchet MS"/>
                <a:sym typeface="Trebuchet MS"/>
              </a:rPr>
              <a:t>1.</a:t>
            </a:r>
            <a:r>
              <a:rPr lang="en-US" sz="1300">
                <a:solidFill>
                  <a:srgbClr val="FF0000"/>
                </a:solidFill>
                <a:latin typeface="Trebuchet MS"/>
                <a:ea typeface="Trebuchet MS"/>
                <a:cs typeface="Trebuchet MS"/>
                <a:sym typeface="Trebuchet MS"/>
              </a:rPr>
              <a:t> </a:t>
            </a:r>
            <a:r>
              <a:rPr b="1" lang="en-US" sz="1300">
                <a:solidFill>
                  <a:srgbClr val="FF0000"/>
                </a:solidFill>
                <a:latin typeface="Trebuchet MS"/>
                <a:ea typeface="Trebuchet MS"/>
                <a:cs typeface="Trebuchet MS"/>
                <a:sym typeface="Trebuchet MS"/>
              </a:rPr>
              <a:t>DAILY PREPROCESSING ACTIVITIES</a:t>
            </a:r>
            <a:endParaRPr b="1" sz="1300">
              <a:solidFill>
                <a:srgbClr val="FF0000"/>
              </a:solidFill>
              <a:latin typeface="Trebuchet MS"/>
              <a:ea typeface="Trebuchet MS"/>
              <a:cs typeface="Trebuchet MS"/>
              <a:sym typeface="Trebuchet MS"/>
            </a:endParaRPr>
          </a:p>
          <a:p>
            <a:pPr indent="0" lvl="0" marL="0" rtl="0" algn="l">
              <a:spcBef>
                <a:spcPts val="0"/>
              </a:spcBef>
              <a:spcAft>
                <a:spcPts val="0"/>
              </a:spcAft>
              <a:buNone/>
            </a:pPr>
            <a:r>
              <a:t/>
            </a:r>
            <a:endParaRPr sz="1300">
              <a:solidFill>
                <a:schemeClr val="dk1"/>
              </a:solidFill>
              <a:latin typeface="Trebuchet MS"/>
              <a:ea typeface="Trebuchet MS"/>
              <a:cs typeface="Trebuchet MS"/>
              <a:sym typeface="Trebuchet MS"/>
            </a:endParaRPr>
          </a:p>
          <a:p>
            <a:pPr indent="0" lvl="0" marL="0" rtl="0" algn="l">
              <a:spcBef>
                <a:spcPts val="0"/>
              </a:spcBef>
              <a:spcAft>
                <a:spcPts val="0"/>
              </a:spcAft>
              <a:buNone/>
            </a:pPr>
            <a:r>
              <a:rPr lang="en-US" sz="1300">
                <a:solidFill>
                  <a:schemeClr val="dk1"/>
                </a:solidFill>
                <a:latin typeface="Trebuchet MS"/>
                <a:ea typeface="Trebuchet MS"/>
                <a:cs typeface="Trebuchet MS"/>
                <a:sym typeface="Trebuchet MS"/>
              </a:rPr>
              <a:t>2.</a:t>
            </a:r>
            <a:r>
              <a:rPr b="1" lang="en-US" sz="1300">
                <a:solidFill>
                  <a:schemeClr val="dk1"/>
                </a:solidFill>
                <a:latin typeface="Trebuchet MS"/>
                <a:ea typeface="Trebuchet MS"/>
                <a:cs typeface="Trebuchet MS"/>
                <a:sym typeface="Trebuchet MS"/>
              </a:rPr>
              <a:t> </a:t>
            </a:r>
            <a:r>
              <a:rPr b="1" lang="en-US" sz="1300">
                <a:solidFill>
                  <a:srgbClr val="E60000"/>
                </a:solidFill>
                <a:latin typeface="Trebuchet MS"/>
                <a:ea typeface="Trebuchet MS"/>
                <a:cs typeface="Trebuchet MS"/>
                <a:sym typeface="Trebuchet MS"/>
              </a:rPr>
              <a:t>DAILY P&amp;L FINALIZATION</a:t>
            </a:r>
            <a:r>
              <a:rPr lang="en-US" sz="1300">
                <a:solidFill>
                  <a:srgbClr val="E60000"/>
                </a:solidFill>
                <a:latin typeface="Trebuchet MS"/>
                <a:ea typeface="Trebuchet MS"/>
                <a:cs typeface="Trebuchet MS"/>
                <a:sym typeface="Trebuchet MS"/>
              </a:rPr>
              <a:t> </a:t>
            </a:r>
            <a:r>
              <a:rPr lang="en-US" sz="1300">
                <a:solidFill>
                  <a:schemeClr val="dk1"/>
                </a:solidFill>
                <a:latin typeface="Trebuchet MS"/>
                <a:ea typeface="Trebuchet MS"/>
                <a:cs typeface="Trebuchet MS"/>
                <a:sym typeface="Trebuchet MS"/>
              </a:rPr>
              <a:t>for Global TERM Index, and Inventory Management Emerging Markets</a:t>
            </a:r>
            <a:br>
              <a:rPr lang="en-US" sz="1300">
                <a:solidFill>
                  <a:schemeClr val="dk1"/>
                </a:solidFill>
                <a:latin typeface="Trebuchet MS"/>
                <a:ea typeface="Trebuchet MS"/>
                <a:cs typeface="Trebuchet MS"/>
                <a:sym typeface="Trebuchet MS"/>
              </a:rPr>
            </a:br>
            <a:br>
              <a:rPr lang="en-US" sz="1300">
                <a:solidFill>
                  <a:schemeClr val="dk1"/>
                </a:solidFill>
                <a:latin typeface="Trebuchet MS"/>
                <a:ea typeface="Trebuchet MS"/>
                <a:cs typeface="Trebuchet MS"/>
                <a:sym typeface="Trebuchet MS"/>
              </a:rPr>
            </a:br>
            <a:r>
              <a:rPr lang="en-US" sz="1300">
                <a:solidFill>
                  <a:schemeClr val="dk1"/>
                </a:solidFill>
                <a:latin typeface="Trebuchet MS"/>
                <a:ea typeface="Trebuchet MS"/>
                <a:cs typeface="Trebuchet MS"/>
                <a:sym typeface="Trebuchet MS"/>
              </a:rPr>
              <a:t>3. </a:t>
            </a:r>
            <a:r>
              <a:rPr b="1" lang="en-US" sz="1300">
                <a:solidFill>
                  <a:srgbClr val="E60000"/>
                </a:solidFill>
                <a:latin typeface="Trebuchet MS"/>
                <a:ea typeface="Trebuchet MS"/>
                <a:cs typeface="Trebuchet MS"/>
                <a:sym typeface="Trebuchet MS"/>
              </a:rPr>
              <a:t>Control Checks</a:t>
            </a:r>
            <a:r>
              <a:rPr lang="en-US" sz="1300">
                <a:solidFill>
                  <a:schemeClr val="dk1"/>
                </a:solidFill>
                <a:latin typeface="Trebuchet MS"/>
                <a:ea typeface="Trebuchet MS"/>
                <a:cs typeface="Trebuchet MS"/>
                <a:sym typeface="Trebuchet MS"/>
              </a:rPr>
              <a:t> to ensure minimise reporting risks.</a:t>
            </a:r>
            <a:endParaRPr sz="1300">
              <a:solidFill>
                <a:schemeClr val="dk1"/>
              </a:solidFill>
              <a:latin typeface="Trebuchet MS"/>
              <a:ea typeface="Trebuchet MS"/>
              <a:cs typeface="Trebuchet MS"/>
              <a:sym typeface="Trebuchet MS"/>
            </a:endParaRPr>
          </a:p>
        </p:txBody>
      </p:sp>
      <p:cxnSp>
        <p:nvCxnSpPr>
          <p:cNvPr id="86" name="Google Shape;86;p2"/>
          <p:cNvCxnSpPr>
            <a:stCxn id="79" idx="1"/>
          </p:cNvCxnSpPr>
          <p:nvPr/>
        </p:nvCxnSpPr>
        <p:spPr>
          <a:xfrm rot="10800000">
            <a:off x="4865367" y="2550125"/>
            <a:ext cx="272700" cy="0"/>
          </a:xfrm>
          <a:prstGeom prst="straightConnector1">
            <a:avLst/>
          </a:prstGeom>
          <a:noFill/>
          <a:ln cap="flat" cmpd="sng" w="19050">
            <a:solidFill>
              <a:srgbClr val="C2C2C2"/>
            </a:solidFill>
            <a:prstDash val="solid"/>
            <a:round/>
            <a:headEnd len="sm" w="sm" type="none"/>
            <a:tailEnd len="sm" w="sm" type="none"/>
          </a:ln>
        </p:spPr>
      </p:cxnSp>
      <p:cxnSp>
        <p:nvCxnSpPr>
          <p:cNvPr id="87" name="Google Shape;87;p2"/>
          <p:cNvCxnSpPr/>
          <p:nvPr/>
        </p:nvCxnSpPr>
        <p:spPr>
          <a:xfrm rot="10800000">
            <a:off x="4865367" y="3345975"/>
            <a:ext cx="272700" cy="0"/>
          </a:xfrm>
          <a:prstGeom prst="straightConnector1">
            <a:avLst/>
          </a:prstGeom>
          <a:noFill/>
          <a:ln cap="flat" cmpd="sng" w="19050">
            <a:solidFill>
              <a:srgbClr val="C2C2C2"/>
            </a:solidFill>
            <a:prstDash val="solid"/>
            <a:round/>
            <a:headEnd len="sm" w="sm" type="none"/>
            <a:tailEnd len="sm" w="sm" type="none"/>
          </a:ln>
        </p:spPr>
      </p:cxnSp>
      <p:cxnSp>
        <p:nvCxnSpPr>
          <p:cNvPr id="88" name="Google Shape;88;p2"/>
          <p:cNvCxnSpPr>
            <a:stCxn id="76" idx="6"/>
            <a:endCxn id="78" idx="0"/>
          </p:cNvCxnSpPr>
          <p:nvPr/>
        </p:nvCxnSpPr>
        <p:spPr>
          <a:xfrm flipH="1" rot="10800000">
            <a:off x="2889921" y="1397346"/>
            <a:ext cx="2491500" cy="2591700"/>
          </a:xfrm>
          <a:prstGeom prst="curvedConnector4">
            <a:avLst>
              <a:gd fmla="val 24058" name="adj1"/>
              <a:gd fmla="val 120126" name="adj2"/>
            </a:avLst>
          </a:prstGeom>
          <a:noFill/>
          <a:ln cap="flat" cmpd="sng" w="9525">
            <a:solidFill>
              <a:srgbClr val="CFBC9B"/>
            </a:solidFill>
            <a:prstDash val="solid"/>
            <a:round/>
            <a:headEnd len="med" w="med" type="none"/>
            <a:tailEnd len="med" w="med" type="none"/>
          </a:ln>
        </p:spPr>
      </p:cxnSp>
      <p:cxnSp>
        <p:nvCxnSpPr>
          <p:cNvPr id="89" name="Google Shape;89;p2"/>
          <p:cNvCxnSpPr>
            <a:stCxn id="79" idx="3"/>
            <a:endCxn id="83" idx="1"/>
          </p:cNvCxnSpPr>
          <p:nvPr/>
        </p:nvCxnSpPr>
        <p:spPr>
          <a:xfrm>
            <a:off x="6755967" y="2550125"/>
            <a:ext cx="438300" cy="559800"/>
          </a:xfrm>
          <a:prstGeom prst="curvedConnector3">
            <a:avLst>
              <a:gd fmla="val 49984" name="adj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 name="Shape 93"/>
        <p:cNvGrpSpPr/>
        <p:nvPr/>
      </p:nvGrpSpPr>
      <p:grpSpPr>
        <a:xfrm>
          <a:off x="0" y="0"/>
          <a:ext cx="0" cy="0"/>
          <a:chOff x="0" y="0"/>
          <a:chExt cx="0" cy="0"/>
        </a:xfrm>
      </p:grpSpPr>
      <p:sp>
        <p:nvSpPr>
          <p:cNvPr id="94" name="Google Shape;94;g36060b6bc62_0_49"/>
          <p:cNvSpPr txBox="1"/>
          <p:nvPr/>
        </p:nvSpPr>
        <p:spPr>
          <a:xfrm>
            <a:off x="8433332" y="4867996"/>
            <a:ext cx="325200" cy="10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7E7E7E"/>
                </a:solidFill>
                <a:latin typeface="Trebuchet MS"/>
                <a:ea typeface="Trebuchet MS"/>
                <a:cs typeface="Trebuchet MS"/>
                <a:sym typeface="Trebuchet MS"/>
              </a:rPr>
              <a:t>PAGE </a:t>
            </a:r>
            <a:r>
              <a:rPr b="0" i="0" lang="en-US" sz="600" u="none" cap="none" strike="noStrike">
                <a:solidFill>
                  <a:srgbClr val="000000"/>
                </a:solidFill>
                <a:latin typeface="Trebuchet MS"/>
                <a:ea typeface="Trebuchet MS"/>
                <a:cs typeface="Trebuchet MS"/>
                <a:sym typeface="Trebuchet MS"/>
              </a:rPr>
              <a:t>2</a:t>
            </a:r>
            <a:endParaRPr b="0" i="0" sz="600" u="none" cap="none" strike="noStrike">
              <a:solidFill>
                <a:srgbClr val="000000"/>
              </a:solidFill>
              <a:latin typeface="Trebuchet MS"/>
              <a:ea typeface="Trebuchet MS"/>
              <a:cs typeface="Trebuchet MS"/>
              <a:sym typeface="Trebuchet MS"/>
            </a:endParaRPr>
          </a:p>
        </p:txBody>
      </p:sp>
      <p:grpSp>
        <p:nvGrpSpPr>
          <p:cNvPr id="95" name="Google Shape;95;g36060b6bc62_0_49"/>
          <p:cNvGrpSpPr/>
          <p:nvPr/>
        </p:nvGrpSpPr>
        <p:grpSpPr>
          <a:xfrm>
            <a:off x="383718" y="4718033"/>
            <a:ext cx="708805" cy="255269"/>
            <a:chOff x="383718" y="4718033"/>
            <a:chExt cx="708805" cy="255269"/>
          </a:xfrm>
        </p:grpSpPr>
        <p:pic>
          <p:nvPicPr>
            <p:cNvPr id="96" name="Google Shape;96;g36060b6bc62_0_49"/>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97" name="Google Shape;97;g36060b6bc62_0_49"/>
            <p:cNvSpPr/>
            <p:nvPr/>
          </p:nvSpPr>
          <p:spPr>
            <a:xfrm>
              <a:off x="660723" y="4754477"/>
              <a:ext cx="431800" cy="177164"/>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g36060b6bc62_0_49"/>
          <p:cNvSpPr/>
          <p:nvPr/>
        </p:nvSpPr>
        <p:spPr>
          <a:xfrm>
            <a:off x="394659" y="776944"/>
            <a:ext cx="8354695" cy="0"/>
          </a:xfrm>
          <a:custGeom>
            <a:rect b="b" l="l" r="r" t="t"/>
            <a:pathLst>
              <a:path extrusionOk="0" h="120000" w="8354695">
                <a:moveTo>
                  <a:pt x="0" y="0"/>
                </a:moveTo>
                <a:lnTo>
                  <a:pt x="8354326" y="0"/>
                </a:lnTo>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6060b6bc62_0_49"/>
          <p:cNvSpPr txBox="1"/>
          <p:nvPr>
            <p:ph type="title"/>
          </p:nvPr>
        </p:nvSpPr>
        <p:spPr>
          <a:xfrm>
            <a:off x="369824" y="222631"/>
            <a:ext cx="8151000" cy="4137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i="1" lang="en-US"/>
              <a:t>Daily </a:t>
            </a:r>
            <a:r>
              <a:rPr b="1" i="1" lang="en-US">
                <a:solidFill>
                  <a:srgbClr val="E60000"/>
                </a:solidFill>
              </a:rPr>
              <a:t>Contributions </a:t>
            </a:r>
            <a:r>
              <a:rPr b="1" i="1" lang="en-US"/>
              <a:t>within the Team</a:t>
            </a:r>
            <a:endParaRPr b="1" i="1"/>
          </a:p>
        </p:txBody>
      </p:sp>
      <p:grpSp>
        <p:nvGrpSpPr>
          <p:cNvPr id="100" name="Google Shape;100;g36060b6bc62_0_49"/>
          <p:cNvGrpSpPr/>
          <p:nvPr/>
        </p:nvGrpSpPr>
        <p:grpSpPr>
          <a:xfrm>
            <a:off x="811523" y="1570139"/>
            <a:ext cx="2214302" cy="2214085"/>
            <a:chOff x="4562258" y="2032864"/>
            <a:chExt cx="2166000" cy="2166000"/>
          </a:xfrm>
        </p:grpSpPr>
        <p:sp>
          <p:nvSpPr>
            <p:cNvPr id="101" name="Google Shape;101;g36060b6bc62_0_49"/>
            <p:cNvSpPr/>
            <p:nvPr/>
          </p:nvSpPr>
          <p:spPr>
            <a:xfrm>
              <a:off x="4562258" y="2032864"/>
              <a:ext cx="2166000" cy="2166000"/>
            </a:xfrm>
            <a:prstGeom prst="ellipse">
              <a:avLst/>
            </a:prstGeom>
            <a:solidFill>
              <a:srgbClr val="B02B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6060b6bc62_0_49"/>
            <p:cNvSpPr txBox="1"/>
            <p:nvPr/>
          </p:nvSpPr>
          <p:spPr>
            <a:xfrm>
              <a:off x="4721058" y="2652246"/>
              <a:ext cx="1844700" cy="960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chemeClr val="lt1"/>
                  </a:solidFill>
                  <a:latin typeface="Roboto"/>
                  <a:ea typeface="Roboto"/>
                  <a:cs typeface="Roboto"/>
                  <a:sym typeface="Roboto"/>
                </a:rPr>
                <a:t>Dividend AVI</a:t>
              </a:r>
              <a:br>
                <a:rPr b="0" i="0" lang="en-US" sz="2000" u="none" cap="none" strike="noStrike">
                  <a:solidFill>
                    <a:schemeClr val="lt1"/>
                  </a:solidFill>
                  <a:latin typeface="Roboto"/>
                  <a:ea typeface="Roboto"/>
                  <a:cs typeface="Roboto"/>
                  <a:sym typeface="Roboto"/>
                </a:rPr>
              </a:br>
              <a:r>
                <a:rPr b="0" i="0" lang="en-US" sz="2000" u="none" cap="none" strike="noStrike">
                  <a:solidFill>
                    <a:schemeClr val="lt1"/>
                  </a:solidFill>
                  <a:latin typeface="Roboto"/>
                  <a:ea typeface="Roboto"/>
                  <a:cs typeface="Roboto"/>
                  <a:sym typeface="Roboto"/>
                </a:rPr>
                <a:t>Reconciliation </a:t>
              </a:r>
              <a:endParaRPr b="0" i="0" sz="1600" u="none" cap="none" strike="noStrike">
                <a:solidFill>
                  <a:srgbClr val="FFFFFF"/>
                </a:solidFill>
                <a:latin typeface="Roboto"/>
                <a:ea typeface="Roboto"/>
                <a:cs typeface="Roboto"/>
                <a:sym typeface="Roboto"/>
              </a:endParaRPr>
            </a:p>
          </p:txBody>
        </p:sp>
      </p:grpSp>
      <p:sp>
        <p:nvSpPr>
          <p:cNvPr id="103" name="Google Shape;103;g36060b6bc62_0_49"/>
          <p:cNvSpPr txBox="1"/>
          <p:nvPr/>
        </p:nvSpPr>
        <p:spPr>
          <a:xfrm>
            <a:off x="4260600" y="1014400"/>
            <a:ext cx="4488900" cy="3817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800"/>
              <a:buFont typeface="Arial"/>
              <a:buNone/>
            </a:pPr>
            <a:r>
              <a:rPr b="0" i="0" lang="en-US" sz="1500" u="none" cap="none" strike="noStrike">
                <a:solidFill>
                  <a:schemeClr val="dk1"/>
                </a:solidFill>
                <a:latin typeface="Trebuchet MS"/>
                <a:ea typeface="Trebuchet MS"/>
                <a:cs typeface="Trebuchet MS"/>
                <a:sym typeface="Trebuchet MS"/>
              </a:rPr>
              <a:t>Dividend AVI (Actual vs Implied) Analysis is used to reconcile the actual cash flows from dividends in the settlement system of the bank against the implied cash flows from the risk management system.</a:t>
            </a:r>
            <a:endParaRPr b="0" i="0" sz="15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t/>
            </a:r>
            <a:endParaRPr b="0" i="0" sz="15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rPr b="1" i="0" lang="en-US" sz="1500" u="none" cap="none" strike="noStrike">
                <a:solidFill>
                  <a:srgbClr val="E60000"/>
                </a:solidFill>
                <a:latin typeface="Trebuchet MS"/>
                <a:ea typeface="Trebuchet MS"/>
                <a:cs typeface="Trebuchet MS"/>
                <a:sym typeface="Trebuchet MS"/>
              </a:rPr>
              <a:t>PURPOSE </a:t>
            </a:r>
            <a:r>
              <a:rPr b="0" i="0" lang="en-US" sz="1500" u="none" cap="none" strike="noStrike">
                <a:solidFill>
                  <a:schemeClr val="dk1"/>
                </a:solidFill>
                <a:latin typeface="Trebuchet MS"/>
                <a:ea typeface="Trebuchet MS"/>
                <a:cs typeface="Trebuchet MS"/>
                <a:sym typeface="Trebuchet MS"/>
              </a:rPr>
              <a:t>: </a:t>
            </a:r>
            <a:br>
              <a:rPr b="0" i="0" lang="en-US" sz="1500" u="none" cap="none" strike="noStrike">
                <a:solidFill>
                  <a:schemeClr val="dk1"/>
                </a:solidFill>
                <a:latin typeface="Trebuchet MS"/>
                <a:ea typeface="Trebuchet MS"/>
                <a:cs typeface="Trebuchet MS"/>
                <a:sym typeface="Trebuchet MS"/>
              </a:rPr>
            </a:br>
            <a:r>
              <a:rPr b="0" i="0" lang="en-US" sz="1500" u="none" cap="none" strike="noStrike">
                <a:solidFill>
                  <a:schemeClr val="dk1"/>
                </a:solidFill>
                <a:latin typeface="Trebuchet MS"/>
                <a:ea typeface="Trebuchet MS"/>
                <a:cs typeface="Trebuchet MS"/>
                <a:sym typeface="Trebuchet MS"/>
              </a:rPr>
              <a:t>1. To </a:t>
            </a:r>
            <a:r>
              <a:rPr lang="en-US" sz="1500">
                <a:solidFill>
                  <a:schemeClr val="dk1"/>
                </a:solidFill>
                <a:latin typeface="Trebuchet MS"/>
                <a:ea typeface="Trebuchet MS"/>
                <a:cs typeface="Trebuchet MS"/>
                <a:sym typeface="Trebuchet MS"/>
              </a:rPr>
              <a:t>update the ledger and currency holdings with profitable or loss-making differences arising from variance of dividends between the systems.</a:t>
            </a:r>
            <a:br>
              <a:rPr lang="en-US" sz="1500">
                <a:solidFill>
                  <a:schemeClr val="dk1"/>
                </a:solidFill>
                <a:latin typeface="Trebuchet MS"/>
                <a:ea typeface="Trebuchet MS"/>
                <a:cs typeface="Trebuchet MS"/>
                <a:sym typeface="Trebuchet MS"/>
              </a:rPr>
            </a:br>
            <a:br>
              <a:rPr b="0" i="0" lang="en-US" sz="1500" u="none" cap="none" strike="noStrike">
                <a:solidFill>
                  <a:schemeClr val="dk1"/>
                </a:solidFill>
                <a:latin typeface="Trebuchet MS"/>
                <a:ea typeface="Trebuchet MS"/>
                <a:cs typeface="Trebuchet MS"/>
                <a:sym typeface="Trebuchet MS"/>
              </a:rPr>
            </a:br>
            <a:r>
              <a:rPr lang="en-US" sz="1500">
                <a:solidFill>
                  <a:schemeClr val="dk1"/>
                </a:solidFill>
                <a:latin typeface="Trebuchet MS"/>
                <a:ea typeface="Trebuchet MS"/>
                <a:cs typeface="Trebuchet MS"/>
                <a:sym typeface="Trebuchet MS"/>
              </a:rPr>
              <a:t>2</a:t>
            </a:r>
            <a:r>
              <a:rPr b="0" i="0" lang="en-US" sz="1500" u="none" cap="none" strike="noStrike">
                <a:solidFill>
                  <a:schemeClr val="dk1"/>
                </a:solidFill>
                <a:latin typeface="Trebuchet MS"/>
                <a:ea typeface="Trebuchet MS"/>
                <a:cs typeface="Trebuchet MS"/>
                <a:sym typeface="Trebuchet MS"/>
              </a:rPr>
              <a:t>. To minimize accounting breaks across systems and manage risks arising from defaulting, fictitious trades, and incorrect trade bookings.</a:t>
            </a:r>
            <a:endParaRPr b="0" i="0" sz="1500" u="none" cap="none" strike="noStrike">
              <a:solidFill>
                <a:schemeClr val="dk1"/>
              </a:solidFill>
              <a:latin typeface="Trebuchet MS"/>
              <a:ea typeface="Trebuchet MS"/>
              <a:cs typeface="Trebuchet MS"/>
              <a:sym typeface="Trebuchet MS"/>
            </a:endParaRPr>
          </a:p>
        </p:txBody>
      </p:sp>
      <p:pic>
        <p:nvPicPr>
          <p:cNvPr id="104" name="Google Shape;104;g36060b6bc62_0_49"/>
          <p:cNvPicPr preferRelativeResize="0"/>
          <p:nvPr/>
        </p:nvPicPr>
        <p:blipFill rotWithShape="1">
          <a:blip r:embed="rId4">
            <a:alphaModFix/>
          </a:blip>
          <a:srcRect b="0" l="0" r="0" t="0"/>
          <a:stretch/>
        </p:blipFill>
        <p:spPr>
          <a:xfrm>
            <a:off x="8145100" y="71001"/>
            <a:ext cx="613425" cy="613425"/>
          </a:xfrm>
          <a:prstGeom prst="rect">
            <a:avLst/>
          </a:prstGeom>
          <a:noFill/>
          <a:ln>
            <a:noFill/>
          </a:ln>
        </p:spPr>
      </p:pic>
      <p:cxnSp>
        <p:nvCxnSpPr>
          <p:cNvPr id="105" name="Google Shape;105;g36060b6bc62_0_49"/>
          <p:cNvCxnSpPr>
            <a:stCxn id="101" idx="6"/>
            <a:endCxn id="103" idx="1"/>
          </p:cNvCxnSpPr>
          <p:nvPr/>
        </p:nvCxnSpPr>
        <p:spPr>
          <a:xfrm>
            <a:off x="3025825" y="2677182"/>
            <a:ext cx="1234800" cy="246000"/>
          </a:xfrm>
          <a:prstGeom prst="curvedConnector3">
            <a:avLst>
              <a:gd fmla="val 49999" name="adj1"/>
            </a:avLst>
          </a:prstGeom>
          <a:noFill/>
          <a:ln cap="flat" cmpd="sng" w="28575">
            <a:solidFill>
              <a:schemeClr val="dk2"/>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9" name="Shape 109"/>
        <p:cNvGrpSpPr/>
        <p:nvPr/>
      </p:nvGrpSpPr>
      <p:grpSpPr>
        <a:xfrm>
          <a:off x="0" y="0"/>
          <a:ext cx="0" cy="0"/>
          <a:chOff x="0" y="0"/>
          <a:chExt cx="0" cy="0"/>
        </a:xfrm>
      </p:grpSpPr>
      <p:sp>
        <p:nvSpPr>
          <p:cNvPr id="110" name="Google Shape;110;p3"/>
          <p:cNvSpPr txBox="1"/>
          <p:nvPr/>
        </p:nvSpPr>
        <p:spPr>
          <a:xfrm>
            <a:off x="8433307" y="4832096"/>
            <a:ext cx="325200" cy="10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7E7E7E"/>
                </a:solidFill>
                <a:latin typeface="Trebuchet MS"/>
                <a:ea typeface="Trebuchet MS"/>
                <a:cs typeface="Trebuchet MS"/>
                <a:sym typeface="Trebuchet MS"/>
              </a:rPr>
              <a:t>PAGE </a:t>
            </a:r>
            <a:r>
              <a:rPr lang="en-US" sz="600">
                <a:latin typeface="Trebuchet MS"/>
                <a:ea typeface="Trebuchet MS"/>
                <a:cs typeface="Trebuchet MS"/>
                <a:sym typeface="Trebuchet MS"/>
              </a:rPr>
              <a:t>3</a:t>
            </a:r>
            <a:endParaRPr sz="600">
              <a:latin typeface="Trebuchet MS"/>
              <a:ea typeface="Trebuchet MS"/>
              <a:cs typeface="Trebuchet MS"/>
              <a:sym typeface="Trebuchet MS"/>
            </a:endParaRPr>
          </a:p>
        </p:txBody>
      </p:sp>
      <p:grpSp>
        <p:nvGrpSpPr>
          <p:cNvPr id="111" name="Google Shape;111;p3"/>
          <p:cNvGrpSpPr/>
          <p:nvPr/>
        </p:nvGrpSpPr>
        <p:grpSpPr>
          <a:xfrm>
            <a:off x="383718" y="4718033"/>
            <a:ext cx="708805" cy="255269"/>
            <a:chOff x="383718" y="4718033"/>
            <a:chExt cx="708805" cy="255269"/>
          </a:xfrm>
        </p:grpSpPr>
        <p:pic>
          <p:nvPicPr>
            <p:cNvPr id="112" name="Google Shape;112;p3"/>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113" name="Google Shape;113;p3"/>
            <p:cNvSpPr/>
            <p:nvPr/>
          </p:nvSpPr>
          <p:spPr>
            <a:xfrm>
              <a:off x="660723" y="4754477"/>
              <a:ext cx="431800" cy="177165"/>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 name="Google Shape;114;p3"/>
          <p:cNvSpPr/>
          <p:nvPr/>
        </p:nvSpPr>
        <p:spPr>
          <a:xfrm>
            <a:off x="394659" y="776944"/>
            <a:ext cx="8354695" cy="0"/>
          </a:xfrm>
          <a:custGeom>
            <a:rect b="b" l="l" r="r" t="t"/>
            <a:pathLst>
              <a:path extrusionOk="0" h="120000" w="8354695">
                <a:moveTo>
                  <a:pt x="0" y="0"/>
                </a:moveTo>
                <a:lnTo>
                  <a:pt x="8354326" y="0"/>
                </a:lnTo>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txBox="1"/>
          <p:nvPr>
            <p:ph type="title"/>
          </p:nvPr>
        </p:nvSpPr>
        <p:spPr>
          <a:xfrm>
            <a:off x="369824" y="222631"/>
            <a:ext cx="8151000" cy="4137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i="1" lang="en-US"/>
              <a:t>Daily </a:t>
            </a:r>
            <a:r>
              <a:rPr b="1" i="1" lang="en-US">
                <a:solidFill>
                  <a:srgbClr val="E60000"/>
                </a:solidFill>
              </a:rPr>
              <a:t>Contributions </a:t>
            </a:r>
            <a:r>
              <a:rPr b="1" i="1" lang="en-US"/>
              <a:t>within the Team</a:t>
            </a:r>
            <a:endParaRPr b="1" i="1"/>
          </a:p>
        </p:txBody>
      </p:sp>
      <p:grpSp>
        <p:nvGrpSpPr>
          <p:cNvPr id="116" name="Google Shape;116;p3"/>
          <p:cNvGrpSpPr/>
          <p:nvPr/>
        </p:nvGrpSpPr>
        <p:grpSpPr>
          <a:xfrm>
            <a:off x="369820" y="956636"/>
            <a:ext cx="2226898" cy="2087591"/>
            <a:chOff x="3539623" y="1047678"/>
            <a:chExt cx="2310300" cy="2166000"/>
          </a:xfrm>
        </p:grpSpPr>
        <p:sp>
          <p:nvSpPr>
            <p:cNvPr id="117" name="Google Shape;117;p3"/>
            <p:cNvSpPr/>
            <p:nvPr/>
          </p:nvSpPr>
          <p:spPr>
            <a:xfrm>
              <a:off x="3611776" y="1047678"/>
              <a:ext cx="2166000" cy="2166000"/>
            </a:xfrm>
            <a:prstGeom prst="ellipse">
              <a:avLst/>
            </a:prstGeom>
            <a:solidFill>
              <a:srgbClr val="D83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txBox="1"/>
            <p:nvPr/>
          </p:nvSpPr>
          <p:spPr>
            <a:xfrm>
              <a:off x="3539623" y="1587973"/>
              <a:ext cx="2310300" cy="108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800" u="none" cap="none" strike="noStrike">
                  <a:solidFill>
                    <a:srgbClr val="FFFFFF"/>
                  </a:solidFill>
                  <a:latin typeface="Roboto"/>
                  <a:ea typeface="Roboto"/>
                  <a:cs typeface="Roboto"/>
                  <a:sym typeface="Roboto"/>
                </a:rPr>
                <a:t>Daily T0 vs T1 P&amp;L Investigation and </a:t>
              </a:r>
              <a:r>
                <a:rPr lang="en-US" sz="1800">
                  <a:solidFill>
                    <a:srgbClr val="FFFFFF"/>
                  </a:solidFill>
                  <a:latin typeface="Roboto"/>
                  <a:ea typeface="Roboto"/>
                  <a:cs typeface="Roboto"/>
                  <a:sym typeface="Roboto"/>
                </a:rPr>
                <a:t>Finalization</a:t>
              </a:r>
              <a:endParaRPr b="0" i="0" sz="1800" u="none" cap="none" strike="noStrike">
                <a:solidFill>
                  <a:srgbClr val="FFFFFF"/>
                </a:solidFill>
                <a:latin typeface="Roboto"/>
                <a:ea typeface="Roboto"/>
                <a:cs typeface="Roboto"/>
                <a:sym typeface="Roboto"/>
              </a:endParaRPr>
            </a:p>
          </p:txBody>
        </p:sp>
      </p:grpSp>
      <p:pic>
        <p:nvPicPr>
          <p:cNvPr id="119" name="Google Shape;119;p3"/>
          <p:cNvPicPr preferRelativeResize="0"/>
          <p:nvPr/>
        </p:nvPicPr>
        <p:blipFill rotWithShape="1">
          <a:blip r:embed="rId4">
            <a:alphaModFix/>
          </a:blip>
          <a:srcRect b="0" l="0" r="0" t="0"/>
          <a:stretch/>
        </p:blipFill>
        <p:spPr>
          <a:xfrm>
            <a:off x="8145100" y="71001"/>
            <a:ext cx="613425" cy="613425"/>
          </a:xfrm>
          <a:prstGeom prst="rect">
            <a:avLst/>
          </a:prstGeom>
          <a:noFill/>
          <a:ln>
            <a:noFill/>
          </a:ln>
        </p:spPr>
      </p:pic>
      <p:sp>
        <p:nvSpPr>
          <p:cNvPr id="120" name="Google Shape;120;p3"/>
          <p:cNvSpPr/>
          <p:nvPr/>
        </p:nvSpPr>
        <p:spPr>
          <a:xfrm>
            <a:off x="2837725" y="943488"/>
            <a:ext cx="5841000" cy="2036400"/>
          </a:xfrm>
          <a:prstGeom prst="rect">
            <a:avLst/>
          </a:prstGeom>
          <a:solidFill>
            <a:srgbClr val="000000">
              <a:alpha val="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p:txBody>
      </p:sp>
      <p:sp>
        <p:nvSpPr>
          <p:cNvPr id="121" name="Google Shape;121;p3"/>
          <p:cNvSpPr/>
          <p:nvPr/>
        </p:nvSpPr>
        <p:spPr>
          <a:xfrm>
            <a:off x="3130489" y="1044798"/>
            <a:ext cx="20385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US" u="none" cap="none" strike="noStrike">
                <a:solidFill>
                  <a:srgbClr val="000000"/>
                </a:solidFill>
                <a:latin typeface="Trebuchet MS"/>
                <a:ea typeface="Trebuchet MS"/>
                <a:cs typeface="Trebuchet MS"/>
                <a:sym typeface="Trebuchet MS"/>
              </a:rPr>
              <a:t>Preprocessing functions</a:t>
            </a:r>
            <a:endParaRPr b="0" i="0" u="none" cap="none" strike="noStrike">
              <a:solidFill>
                <a:srgbClr val="000000"/>
              </a:solidFill>
              <a:latin typeface="Trebuchet MS"/>
              <a:ea typeface="Trebuchet MS"/>
              <a:cs typeface="Trebuchet MS"/>
              <a:sym typeface="Trebuchet MS"/>
            </a:endParaRPr>
          </a:p>
        </p:txBody>
      </p:sp>
      <p:cxnSp>
        <p:nvCxnSpPr>
          <p:cNvPr id="122" name="Google Shape;122;p3"/>
          <p:cNvCxnSpPr>
            <a:stCxn id="121" idx="3"/>
            <a:endCxn id="123" idx="1"/>
          </p:cNvCxnSpPr>
          <p:nvPr/>
        </p:nvCxnSpPr>
        <p:spPr>
          <a:xfrm flipH="1" rot="10800000">
            <a:off x="5168989" y="1232598"/>
            <a:ext cx="988800" cy="12600"/>
          </a:xfrm>
          <a:prstGeom prst="straightConnector1">
            <a:avLst/>
          </a:prstGeom>
          <a:noFill/>
          <a:ln cap="flat" cmpd="sng" w="9525">
            <a:solidFill>
              <a:schemeClr val="dk2"/>
            </a:solidFill>
            <a:prstDash val="solid"/>
            <a:round/>
            <a:headEnd len="sm" w="sm" type="none"/>
            <a:tailEnd len="med" w="med" type="triangle"/>
          </a:ln>
        </p:spPr>
      </p:cxnSp>
      <p:sp>
        <p:nvSpPr>
          <p:cNvPr id="123" name="Google Shape;123;p3"/>
          <p:cNvSpPr/>
          <p:nvPr/>
        </p:nvSpPr>
        <p:spPr>
          <a:xfrm>
            <a:off x="6157859" y="1032342"/>
            <a:ext cx="20385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lang="en-US">
                <a:latin typeface="Trebuchet MS"/>
                <a:ea typeface="Trebuchet MS"/>
                <a:cs typeface="Trebuchet MS"/>
                <a:sym typeface="Trebuchet MS"/>
              </a:rPr>
              <a:t>Obtaining T0 estimates, T1 reports </a:t>
            </a:r>
            <a:endParaRPr b="0" i="0" u="none" cap="none" strike="noStrike">
              <a:solidFill>
                <a:srgbClr val="000000"/>
              </a:solidFill>
              <a:latin typeface="Trebuchet MS"/>
              <a:ea typeface="Trebuchet MS"/>
              <a:cs typeface="Trebuchet MS"/>
              <a:sym typeface="Trebuchet MS"/>
            </a:endParaRPr>
          </a:p>
        </p:txBody>
      </p:sp>
      <p:cxnSp>
        <p:nvCxnSpPr>
          <p:cNvPr id="124" name="Google Shape;124;p3"/>
          <p:cNvCxnSpPr>
            <a:stCxn id="123" idx="2"/>
            <a:endCxn id="125" idx="0"/>
          </p:cNvCxnSpPr>
          <p:nvPr/>
        </p:nvCxnSpPr>
        <p:spPr>
          <a:xfrm>
            <a:off x="7177109" y="1433142"/>
            <a:ext cx="300" cy="263700"/>
          </a:xfrm>
          <a:prstGeom prst="straightConnector1">
            <a:avLst/>
          </a:prstGeom>
          <a:noFill/>
          <a:ln cap="flat" cmpd="sng" w="9525">
            <a:solidFill>
              <a:schemeClr val="dk2"/>
            </a:solidFill>
            <a:prstDash val="solid"/>
            <a:round/>
            <a:headEnd len="sm" w="sm" type="none"/>
            <a:tailEnd len="med" w="med" type="triangle"/>
          </a:ln>
        </p:spPr>
      </p:cxnSp>
      <p:sp>
        <p:nvSpPr>
          <p:cNvPr id="125" name="Google Shape;125;p3"/>
          <p:cNvSpPr/>
          <p:nvPr/>
        </p:nvSpPr>
        <p:spPr>
          <a:xfrm>
            <a:off x="6099991" y="1696816"/>
            <a:ext cx="21546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US" u="none" cap="none" strike="noStrike">
                <a:solidFill>
                  <a:srgbClr val="000000"/>
                </a:solidFill>
                <a:latin typeface="Trebuchet MS"/>
                <a:ea typeface="Trebuchet MS"/>
                <a:cs typeface="Trebuchet MS"/>
                <a:sym typeface="Trebuchet MS"/>
              </a:rPr>
              <a:t>T0 vs T1 Reconciliation</a:t>
            </a:r>
            <a:endParaRPr b="0" i="0" u="none" cap="none" strike="noStrike">
              <a:solidFill>
                <a:srgbClr val="000000"/>
              </a:solidFill>
              <a:latin typeface="Trebuchet MS"/>
              <a:ea typeface="Trebuchet MS"/>
              <a:cs typeface="Trebuchet MS"/>
              <a:sym typeface="Trebuchet MS"/>
            </a:endParaRPr>
          </a:p>
        </p:txBody>
      </p:sp>
      <p:cxnSp>
        <p:nvCxnSpPr>
          <p:cNvPr id="126" name="Google Shape;126;p3"/>
          <p:cNvCxnSpPr>
            <a:stCxn id="125" idx="1"/>
          </p:cNvCxnSpPr>
          <p:nvPr/>
        </p:nvCxnSpPr>
        <p:spPr>
          <a:xfrm flipH="1">
            <a:off x="5168791" y="1897216"/>
            <a:ext cx="931200" cy="5400"/>
          </a:xfrm>
          <a:prstGeom prst="straightConnector1">
            <a:avLst/>
          </a:prstGeom>
          <a:noFill/>
          <a:ln cap="flat" cmpd="sng" w="9525">
            <a:solidFill>
              <a:schemeClr val="dk2"/>
            </a:solidFill>
            <a:prstDash val="solid"/>
            <a:round/>
            <a:headEnd len="sm" w="sm" type="none"/>
            <a:tailEnd len="med" w="med" type="triangle"/>
          </a:ln>
        </p:spPr>
      </p:cxnSp>
      <p:sp>
        <p:nvSpPr>
          <p:cNvPr id="127" name="Google Shape;127;p3"/>
          <p:cNvSpPr/>
          <p:nvPr/>
        </p:nvSpPr>
        <p:spPr>
          <a:xfrm>
            <a:off x="3130505" y="1696816"/>
            <a:ext cx="20385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lang="en-US">
                <a:latin typeface="Trebuchet MS"/>
                <a:ea typeface="Trebuchet MS"/>
                <a:cs typeface="Trebuchet MS"/>
                <a:sym typeface="Trebuchet MS"/>
              </a:rPr>
              <a:t>EC vs FDR and </a:t>
            </a:r>
            <a:r>
              <a:rPr b="0" i="0" lang="en-US" u="none" cap="none" strike="noStrike">
                <a:solidFill>
                  <a:srgbClr val="000000"/>
                </a:solidFill>
                <a:latin typeface="Trebuchet MS"/>
                <a:ea typeface="Trebuchet MS"/>
                <a:cs typeface="Trebuchet MS"/>
                <a:sym typeface="Trebuchet MS"/>
              </a:rPr>
              <a:t>RMS vs FDR Reconciliation</a:t>
            </a:r>
            <a:endParaRPr b="0" i="0" u="none" cap="none" strike="noStrike">
              <a:solidFill>
                <a:srgbClr val="000000"/>
              </a:solidFill>
              <a:latin typeface="Trebuchet MS"/>
              <a:ea typeface="Trebuchet MS"/>
              <a:cs typeface="Trebuchet MS"/>
              <a:sym typeface="Trebuchet MS"/>
            </a:endParaRPr>
          </a:p>
        </p:txBody>
      </p:sp>
      <p:cxnSp>
        <p:nvCxnSpPr>
          <p:cNvPr id="128" name="Google Shape;128;p3"/>
          <p:cNvCxnSpPr>
            <a:stCxn id="127" idx="2"/>
            <a:endCxn id="129" idx="0"/>
          </p:cNvCxnSpPr>
          <p:nvPr/>
        </p:nvCxnSpPr>
        <p:spPr>
          <a:xfrm>
            <a:off x="4149755" y="2097616"/>
            <a:ext cx="0" cy="260700"/>
          </a:xfrm>
          <a:prstGeom prst="straightConnector1">
            <a:avLst/>
          </a:prstGeom>
          <a:noFill/>
          <a:ln cap="flat" cmpd="sng" w="9525">
            <a:solidFill>
              <a:schemeClr val="dk2"/>
            </a:solidFill>
            <a:prstDash val="solid"/>
            <a:round/>
            <a:headEnd len="sm" w="sm" type="none"/>
            <a:tailEnd len="med" w="med" type="triangle"/>
          </a:ln>
        </p:spPr>
      </p:cxnSp>
      <p:sp>
        <p:nvSpPr>
          <p:cNvPr id="129" name="Google Shape;129;p3"/>
          <p:cNvSpPr/>
          <p:nvPr/>
        </p:nvSpPr>
        <p:spPr>
          <a:xfrm>
            <a:off x="3130505" y="2358392"/>
            <a:ext cx="20385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US" u="none" cap="none" strike="noStrike">
                <a:solidFill>
                  <a:srgbClr val="000000"/>
                </a:solidFill>
                <a:latin typeface="Trebuchet MS"/>
                <a:ea typeface="Trebuchet MS"/>
                <a:cs typeface="Trebuchet MS"/>
                <a:sym typeface="Trebuchet MS"/>
              </a:rPr>
              <a:t>Updating FDD, P&amp;L reporting platform</a:t>
            </a:r>
            <a:endParaRPr b="0" i="0" u="none" cap="none" strike="noStrike">
              <a:solidFill>
                <a:srgbClr val="000000"/>
              </a:solidFill>
              <a:latin typeface="Trebuchet MS"/>
              <a:ea typeface="Trebuchet MS"/>
              <a:cs typeface="Trebuchet MS"/>
              <a:sym typeface="Trebuchet MS"/>
            </a:endParaRPr>
          </a:p>
        </p:txBody>
      </p:sp>
      <p:cxnSp>
        <p:nvCxnSpPr>
          <p:cNvPr id="130" name="Google Shape;130;p3"/>
          <p:cNvCxnSpPr>
            <a:stCxn id="129" idx="3"/>
          </p:cNvCxnSpPr>
          <p:nvPr/>
        </p:nvCxnSpPr>
        <p:spPr>
          <a:xfrm>
            <a:off x="5169005" y="2558792"/>
            <a:ext cx="810900" cy="0"/>
          </a:xfrm>
          <a:prstGeom prst="straightConnector1">
            <a:avLst/>
          </a:prstGeom>
          <a:noFill/>
          <a:ln cap="flat" cmpd="sng" w="9525">
            <a:solidFill>
              <a:schemeClr val="dk2"/>
            </a:solidFill>
            <a:prstDash val="solid"/>
            <a:round/>
            <a:headEnd len="sm" w="sm" type="none"/>
            <a:tailEnd len="med" w="med" type="triangle"/>
          </a:ln>
        </p:spPr>
      </p:cxnSp>
      <p:sp>
        <p:nvSpPr>
          <p:cNvPr id="131" name="Google Shape;131;p3"/>
          <p:cNvSpPr/>
          <p:nvPr/>
        </p:nvSpPr>
        <p:spPr>
          <a:xfrm>
            <a:off x="6099991" y="2358375"/>
            <a:ext cx="2154600" cy="4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50"/>
              <a:buFont typeface="Arial"/>
              <a:buNone/>
            </a:pPr>
            <a:r>
              <a:rPr b="0" i="0" lang="en-US" sz="1350" u="none" cap="none" strike="noStrike">
                <a:solidFill>
                  <a:srgbClr val="000000"/>
                </a:solidFill>
                <a:latin typeface="Trebuchet MS"/>
                <a:ea typeface="Trebuchet MS"/>
                <a:cs typeface="Trebuchet MS"/>
                <a:sym typeface="Trebuchet MS"/>
              </a:rPr>
              <a:t>Commentaries and Finalization of P&amp;L</a:t>
            </a:r>
            <a:endParaRPr b="0" i="0" sz="1350" u="none" cap="none" strike="noStrike">
              <a:solidFill>
                <a:srgbClr val="000000"/>
              </a:solidFill>
              <a:latin typeface="Trebuchet MS"/>
              <a:ea typeface="Trebuchet MS"/>
              <a:cs typeface="Trebuchet MS"/>
              <a:sym typeface="Trebuchet MS"/>
            </a:endParaRPr>
          </a:p>
        </p:txBody>
      </p:sp>
      <p:cxnSp>
        <p:nvCxnSpPr>
          <p:cNvPr id="132" name="Google Shape;132;p3"/>
          <p:cNvCxnSpPr>
            <a:stCxn id="118" idx="3"/>
            <a:endCxn id="120" idx="1"/>
          </p:cNvCxnSpPr>
          <p:nvPr/>
        </p:nvCxnSpPr>
        <p:spPr>
          <a:xfrm flipH="1" rot="10800000">
            <a:off x="2596718" y="1961726"/>
            <a:ext cx="240900" cy="38700"/>
          </a:xfrm>
          <a:prstGeom prst="curvedConnector3">
            <a:avLst>
              <a:gd fmla="val 50022" name="adj1"/>
            </a:avLst>
          </a:prstGeom>
          <a:noFill/>
          <a:ln cap="flat" cmpd="sng" w="9525">
            <a:solidFill>
              <a:schemeClr val="dk2"/>
            </a:solidFill>
            <a:prstDash val="solid"/>
            <a:round/>
            <a:headEnd len="med" w="med" type="none"/>
            <a:tailEnd len="med" w="med" type="none"/>
          </a:ln>
        </p:spPr>
      </p:cxnSp>
      <p:sp>
        <p:nvSpPr>
          <p:cNvPr id="133" name="Google Shape;133;p3"/>
          <p:cNvSpPr txBox="1"/>
          <p:nvPr/>
        </p:nvSpPr>
        <p:spPr>
          <a:xfrm>
            <a:off x="222900" y="3153200"/>
            <a:ext cx="8698200" cy="1569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800"/>
              <a:buFont typeface="Arial"/>
              <a:buNone/>
            </a:pPr>
            <a:r>
              <a:rPr lang="en-US" sz="1500">
                <a:solidFill>
                  <a:schemeClr val="dk1"/>
                </a:solidFill>
                <a:latin typeface="Trebuchet MS"/>
                <a:ea typeface="Trebuchet MS"/>
                <a:cs typeface="Trebuchet MS"/>
                <a:sym typeface="Trebuchet MS"/>
              </a:rPr>
              <a:t>Identifying the attributes driving the T1 P&amp;L, investigating for any issues in the reporting or flow of data, r</a:t>
            </a:r>
            <a:r>
              <a:rPr b="0" i="0" lang="en-US" sz="1500" u="none" cap="none" strike="noStrike">
                <a:solidFill>
                  <a:schemeClr val="dk1"/>
                </a:solidFill>
                <a:latin typeface="Trebuchet MS"/>
                <a:ea typeface="Trebuchet MS"/>
                <a:cs typeface="Trebuchet MS"/>
                <a:sym typeface="Trebuchet MS"/>
              </a:rPr>
              <a:t>eviewing the Desk’s T0</a:t>
            </a:r>
            <a:r>
              <a:rPr lang="en-US" sz="1500">
                <a:solidFill>
                  <a:schemeClr val="dk1"/>
                </a:solidFill>
                <a:latin typeface="Trebuchet MS"/>
                <a:ea typeface="Trebuchet MS"/>
                <a:cs typeface="Trebuchet MS"/>
                <a:sym typeface="Trebuchet MS"/>
              </a:rPr>
              <a:t> estimates</a:t>
            </a:r>
            <a:r>
              <a:rPr b="0" i="0" lang="en-US" sz="1500" u="none" cap="none" strike="noStrike">
                <a:solidFill>
                  <a:schemeClr val="dk1"/>
                </a:solidFill>
                <a:latin typeface="Trebuchet MS"/>
                <a:ea typeface="Trebuchet MS"/>
                <a:cs typeface="Trebuchet MS"/>
                <a:sym typeface="Trebuchet MS"/>
              </a:rPr>
              <a:t>, and understanding the reasons for variance between T0 vs Financing T1 P&amp;L.</a:t>
            </a:r>
            <a:endParaRPr b="0" i="0" sz="15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t/>
            </a:r>
            <a:endParaRPr b="0" i="0" sz="15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rPr b="1" i="0" lang="en-US" sz="1500" u="none" cap="none" strike="noStrike">
                <a:solidFill>
                  <a:schemeClr val="dk1"/>
                </a:solidFill>
                <a:latin typeface="Trebuchet MS"/>
                <a:ea typeface="Trebuchet MS"/>
                <a:cs typeface="Trebuchet MS"/>
                <a:sym typeface="Trebuchet MS"/>
              </a:rPr>
              <a:t>PURPOSE :</a:t>
            </a:r>
            <a:r>
              <a:rPr b="0" i="0" lang="en-US" sz="1500" u="none" cap="none" strike="noStrike">
                <a:solidFill>
                  <a:schemeClr val="dk1"/>
                </a:solidFill>
                <a:latin typeface="Trebuchet MS"/>
                <a:ea typeface="Trebuchet MS"/>
                <a:cs typeface="Trebuchet MS"/>
                <a:sym typeface="Trebuchet MS"/>
              </a:rPr>
              <a:t> To make sure that the trading activity complies with the risk mitigation strategies of the company, adheres to regulations and that no rogue trades are carried out.</a:t>
            </a:r>
            <a:endParaRPr b="0" i="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7" name="Shape 137"/>
        <p:cNvGrpSpPr/>
        <p:nvPr/>
      </p:nvGrpSpPr>
      <p:grpSpPr>
        <a:xfrm>
          <a:off x="0" y="0"/>
          <a:ext cx="0" cy="0"/>
          <a:chOff x="0" y="0"/>
          <a:chExt cx="0" cy="0"/>
        </a:xfrm>
      </p:grpSpPr>
      <p:sp>
        <p:nvSpPr>
          <p:cNvPr id="138" name="Google Shape;138;g36060b6bc62_0_111"/>
          <p:cNvSpPr txBox="1"/>
          <p:nvPr/>
        </p:nvSpPr>
        <p:spPr>
          <a:xfrm>
            <a:off x="8520832" y="4793009"/>
            <a:ext cx="325200" cy="10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7E7E7E"/>
                </a:solidFill>
                <a:latin typeface="Trebuchet MS"/>
                <a:ea typeface="Trebuchet MS"/>
                <a:cs typeface="Trebuchet MS"/>
                <a:sym typeface="Trebuchet MS"/>
              </a:rPr>
              <a:t>PAGE </a:t>
            </a:r>
            <a:r>
              <a:rPr lang="en-US" sz="600">
                <a:latin typeface="Trebuchet MS"/>
                <a:ea typeface="Trebuchet MS"/>
                <a:cs typeface="Trebuchet MS"/>
                <a:sym typeface="Trebuchet MS"/>
              </a:rPr>
              <a:t>4</a:t>
            </a:r>
            <a:endParaRPr sz="600">
              <a:latin typeface="Trebuchet MS"/>
              <a:ea typeface="Trebuchet MS"/>
              <a:cs typeface="Trebuchet MS"/>
              <a:sym typeface="Trebuchet MS"/>
            </a:endParaRPr>
          </a:p>
        </p:txBody>
      </p:sp>
      <p:grpSp>
        <p:nvGrpSpPr>
          <p:cNvPr id="139" name="Google Shape;139;g36060b6bc62_0_111"/>
          <p:cNvGrpSpPr/>
          <p:nvPr/>
        </p:nvGrpSpPr>
        <p:grpSpPr>
          <a:xfrm>
            <a:off x="383718" y="4718033"/>
            <a:ext cx="708805" cy="255269"/>
            <a:chOff x="383718" y="4718033"/>
            <a:chExt cx="708805" cy="255269"/>
          </a:xfrm>
        </p:grpSpPr>
        <p:pic>
          <p:nvPicPr>
            <p:cNvPr id="140" name="Google Shape;140;g36060b6bc62_0_111"/>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141" name="Google Shape;141;g36060b6bc62_0_111"/>
            <p:cNvSpPr/>
            <p:nvPr/>
          </p:nvSpPr>
          <p:spPr>
            <a:xfrm>
              <a:off x="660723" y="4754477"/>
              <a:ext cx="431800" cy="177164"/>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 name="Google Shape;142;g36060b6bc62_0_111"/>
          <p:cNvSpPr/>
          <p:nvPr/>
        </p:nvSpPr>
        <p:spPr>
          <a:xfrm>
            <a:off x="394659" y="776944"/>
            <a:ext cx="8354695" cy="0"/>
          </a:xfrm>
          <a:custGeom>
            <a:rect b="b" l="l" r="r" t="t"/>
            <a:pathLst>
              <a:path extrusionOk="0" h="120000" w="8354695">
                <a:moveTo>
                  <a:pt x="0" y="0"/>
                </a:moveTo>
                <a:lnTo>
                  <a:pt x="8354326" y="0"/>
                </a:lnTo>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6060b6bc62_0_111"/>
          <p:cNvSpPr txBox="1"/>
          <p:nvPr>
            <p:ph type="title"/>
          </p:nvPr>
        </p:nvSpPr>
        <p:spPr>
          <a:xfrm>
            <a:off x="369824" y="222631"/>
            <a:ext cx="8151000" cy="4137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i="1" lang="en-US"/>
              <a:t>Daily </a:t>
            </a:r>
            <a:r>
              <a:rPr b="1" i="1" lang="en-US">
                <a:solidFill>
                  <a:srgbClr val="E60000"/>
                </a:solidFill>
              </a:rPr>
              <a:t>Contributions </a:t>
            </a:r>
            <a:r>
              <a:rPr b="1" i="1" lang="en-US"/>
              <a:t>within the Team</a:t>
            </a:r>
            <a:endParaRPr b="1" i="1"/>
          </a:p>
        </p:txBody>
      </p:sp>
      <p:sp>
        <p:nvSpPr>
          <p:cNvPr id="144" name="Google Shape;144;g36060b6bc62_0_111"/>
          <p:cNvSpPr txBox="1"/>
          <p:nvPr/>
        </p:nvSpPr>
        <p:spPr>
          <a:xfrm>
            <a:off x="481213" y="1047014"/>
            <a:ext cx="4738800" cy="1946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800"/>
              <a:buFont typeface="Arial"/>
              <a:buNone/>
            </a:pPr>
            <a:r>
              <a:rPr b="0" i="0" lang="en-US" sz="1700" u="none" cap="none" strike="noStrike">
                <a:solidFill>
                  <a:schemeClr val="dk1"/>
                </a:solidFill>
                <a:latin typeface="Trebuchet MS"/>
                <a:ea typeface="Trebuchet MS"/>
                <a:cs typeface="Trebuchet MS"/>
                <a:sym typeface="Trebuchet MS"/>
              </a:rPr>
              <a:t>Comparing the Mark-To-Market P&amp;L to the Risk-Sensitivity Based (RSB) P&amp;L for the aforementioned books and providing commentaries on variances crossing threshold.</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rPr b="1" i="0" lang="en-US" sz="1700" u="none" cap="none" strike="noStrike">
                <a:solidFill>
                  <a:schemeClr val="dk1"/>
                </a:solidFill>
                <a:latin typeface="Trebuchet MS"/>
                <a:ea typeface="Trebuchet MS"/>
                <a:cs typeface="Trebuchet MS"/>
                <a:sym typeface="Trebuchet MS"/>
              </a:rPr>
              <a:t>PURPOSE </a:t>
            </a:r>
            <a:r>
              <a:rPr b="0" i="0" lang="en-US" sz="1700" u="none" cap="none" strike="noStrike">
                <a:solidFill>
                  <a:schemeClr val="dk1"/>
                </a:solidFill>
                <a:latin typeface="Trebuchet MS"/>
                <a:ea typeface="Trebuchet MS"/>
                <a:cs typeface="Trebuchet MS"/>
                <a:sym typeface="Trebuchet MS"/>
              </a:rPr>
              <a:t>: To ensure the completeness and accuracy of risk sensitivity reporting.</a:t>
            </a:r>
            <a:endParaRPr b="0" i="0" sz="1700" u="none" cap="none" strike="noStrike">
              <a:solidFill>
                <a:schemeClr val="dk1"/>
              </a:solidFill>
              <a:latin typeface="Trebuchet MS"/>
              <a:ea typeface="Trebuchet MS"/>
              <a:cs typeface="Trebuchet MS"/>
              <a:sym typeface="Trebuchet MS"/>
            </a:endParaRPr>
          </a:p>
        </p:txBody>
      </p:sp>
      <p:pic>
        <p:nvPicPr>
          <p:cNvPr id="145" name="Google Shape;145;g36060b6bc62_0_111"/>
          <p:cNvPicPr preferRelativeResize="0"/>
          <p:nvPr/>
        </p:nvPicPr>
        <p:blipFill rotWithShape="1">
          <a:blip r:embed="rId4">
            <a:alphaModFix/>
          </a:blip>
          <a:srcRect b="0" l="0" r="0" t="0"/>
          <a:stretch/>
        </p:blipFill>
        <p:spPr>
          <a:xfrm>
            <a:off x="8145100" y="71001"/>
            <a:ext cx="613425" cy="613425"/>
          </a:xfrm>
          <a:prstGeom prst="rect">
            <a:avLst/>
          </a:prstGeom>
          <a:noFill/>
          <a:ln>
            <a:noFill/>
          </a:ln>
        </p:spPr>
      </p:pic>
      <p:cxnSp>
        <p:nvCxnSpPr>
          <p:cNvPr id="146" name="Google Shape;146;g36060b6bc62_0_111"/>
          <p:cNvCxnSpPr>
            <a:stCxn id="147" idx="2"/>
            <a:endCxn id="144" idx="3"/>
          </p:cNvCxnSpPr>
          <p:nvPr/>
        </p:nvCxnSpPr>
        <p:spPr>
          <a:xfrm flipH="1">
            <a:off x="5220016" y="1890542"/>
            <a:ext cx="899100" cy="129600"/>
          </a:xfrm>
          <a:prstGeom prst="curvedConnector3">
            <a:avLst>
              <a:gd fmla="val 50000" name="adj1"/>
            </a:avLst>
          </a:prstGeom>
          <a:noFill/>
          <a:ln cap="flat" cmpd="sng" w="28575">
            <a:solidFill>
              <a:schemeClr val="dk2"/>
            </a:solidFill>
            <a:prstDash val="solid"/>
            <a:round/>
            <a:headEnd len="sm" w="sm" type="none"/>
            <a:tailEnd len="sm" w="sm" type="none"/>
          </a:ln>
        </p:spPr>
      </p:cxnSp>
      <p:grpSp>
        <p:nvGrpSpPr>
          <p:cNvPr id="148" name="Google Shape;148;g36060b6bc62_0_111"/>
          <p:cNvGrpSpPr/>
          <p:nvPr/>
        </p:nvGrpSpPr>
        <p:grpSpPr>
          <a:xfrm>
            <a:off x="6119116" y="1020676"/>
            <a:ext cx="2290328" cy="1739731"/>
            <a:chOff x="2702876" y="2032864"/>
            <a:chExt cx="2166000" cy="2166000"/>
          </a:xfrm>
        </p:grpSpPr>
        <p:sp>
          <p:nvSpPr>
            <p:cNvPr id="147" name="Google Shape;147;g36060b6bc62_0_111"/>
            <p:cNvSpPr/>
            <p:nvPr/>
          </p:nvSpPr>
          <p:spPr>
            <a:xfrm>
              <a:off x="2702876" y="2032864"/>
              <a:ext cx="2166000" cy="2166000"/>
            </a:xfrm>
            <a:prstGeom prst="ellipse">
              <a:avLst/>
            </a:prstGeom>
            <a:solidFill>
              <a:srgbClr val="801F1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6060b6bc62_0_111"/>
            <p:cNvSpPr txBox="1"/>
            <p:nvPr/>
          </p:nvSpPr>
          <p:spPr>
            <a:xfrm>
              <a:off x="3037817" y="2764405"/>
              <a:ext cx="1496100" cy="70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2100" u="none" cap="none" strike="noStrike">
                  <a:solidFill>
                    <a:srgbClr val="FFFFFF"/>
                  </a:solidFill>
                  <a:latin typeface="Roboto"/>
                  <a:ea typeface="Roboto"/>
                  <a:cs typeface="Roboto"/>
                  <a:sym typeface="Roboto"/>
                </a:rPr>
                <a:t>Daily T1 vs RSBPL Analysis</a:t>
              </a:r>
              <a:endParaRPr b="0" i="0" sz="2100" u="none" cap="none" strike="noStrike">
                <a:solidFill>
                  <a:srgbClr val="FFFFFF"/>
                </a:solidFill>
                <a:latin typeface="Roboto"/>
                <a:ea typeface="Roboto"/>
                <a:cs typeface="Roboto"/>
                <a:sym typeface="Roboto"/>
              </a:endParaRPr>
            </a:p>
          </p:txBody>
        </p:sp>
      </p:grpSp>
      <p:grpSp>
        <p:nvGrpSpPr>
          <p:cNvPr id="150" name="Google Shape;150;g36060b6bc62_0_111"/>
          <p:cNvGrpSpPr/>
          <p:nvPr/>
        </p:nvGrpSpPr>
        <p:grpSpPr>
          <a:xfrm>
            <a:off x="596339" y="3213390"/>
            <a:ext cx="2127662" cy="1616269"/>
            <a:chOff x="2702876" y="2032864"/>
            <a:chExt cx="2166000" cy="2166000"/>
          </a:xfrm>
        </p:grpSpPr>
        <p:sp>
          <p:nvSpPr>
            <p:cNvPr id="151" name="Google Shape;151;g36060b6bc62_0_111"/>
            <p:cNvSpPr/>
            <p:nvPr/>
          </p:nvSpPr>
          <p:spPr>
            <a:xfrm>
              <a:off x="2702876" y="2032864"/>
              <a:ext cx="2166000" cy="2166000"/>
            </a:xfrm>
            <a:prstGeom prst="ellipse">
              <a:avLst/>
            </a:prstGeom>
            <a:solidFill>
              <a:srgbClr val="801F1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6060b6bc62_0_111"/>
            <p:cNvSpPr txBox="1"/>
            <p:nvPr/>
          </p:nvSpPr>
          <p:spPr>
            <a:xfrm>
              <a:off x="3037816" y="2764417"/>
              <a:ext cx="1542000" cy="70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2100">
                  <a:solidFill>
                    <a:srgbClr val="FFFFFF"/>
                  </a:solidFill>
                  <a:latin typeface="Roboto"/>
                  <a:ea typeface="Roboto"/>
                  <a:cs typeface="Roboto"/>
                  <a:sym typeface="Roboto"/>
                </a:rPr>
                <a:t>Other </a:t>
              </a:r>
              <a:r>
                <a:rPr b="0" i="0" lang="en-US" sz="2100" u="none" cap="none" strike="noStrike">
                  <a:solidFill>
                    <a:srgbClr val="FFFFFF"/>
                  </a:solidFill>
                  <a:latin typeface="Roboto"/>
                  <a:ea typeface="Roboto"/>
                  <a:cs typeface="Roboto"/>
                  <a:sym typeface="Roboto"/>
                </a:rPr>
                <a:t>Daily</a:t>
              </a:r>
              <a:r>
                <a:rPr lang="en-US" sz="2100">
                  <a:solidFill>
                    <a:srgbClr val="FFFFFF"/>
                  </a:solidFill>
                  <a:latin typeface="Roboto"/>
                  <a:ea typeface="Roboto"/>
                  <a:cs typeface="Roboto"/>
                  <a:sym typeface="Roboto"/>
                </a:rPr>
                <a:t> Control Checks</a:t>
              </a:r>
              <a:endParaRPr b="0" i="0" sz="2100" u="none" cap="none" strike="noStrike">
                <a:solidFill>
                  <a:srgbClr val="FFFFFF"/>
                </a:solidFill>
                <a:latin typeface="Roboto"/>
                <a:ea typeface="Roboto"/>
                <a:cs typeface="Roboto"/>
                <a:sym typeface="Roboto"/>
              </a:endParaRPr>
            </a:p>
          </p:txBody>
        </p:sp>
      </p:grpSp>
      <p:sp>
        <p:nvSpPr>
          <p:cNvPr id="153" name="Google Shape;153;g36060b6bc62_0_111"/>
          <p:cNvSpPr txBox="1"/>
          <p:nvPr/>
        </p:nvSpPr>
        <p:spPr>
          <a:xfrm>
            <a:off x="3694500" y="2993125"/>
            <a:ext cx="4738800" cy="1957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800"/>
              <a:buFont typeface="Arial"/>
              <a:buNone/>
            </a:pPr>
            <a:r>
              <a:rPr lang="en-US" sz="1700">
                <a:solidFill>
                  <a:schemeClr val="dk1"/>
                </a:solidFill>
                <a:latin typeface="Trebuchet MS"/>
                <a:ea typeface="Trebuchet MS"/>
                <a:cs typeface="Trebuchet MS"/>
                <a:sym typeface="Trebuchet MS"/>
              </a:rPr>
              <a:t>Checking for trades crossing thresholds set in place for minimising operational risk.</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800"/>
              <a:buFont typeface="Arial"/>
              <a:buNone/>
            </a:pPr>
            <a:r>
              <a:rPr b="1" i="0" lang="en-US" sz="1700" u="none" cap="none" strike="noStrike">
                <a:solidFill>
                  <a:schemeClr val="dk1"/>
                </a:solidFill>
                <a:latin typeface="Trebuchet MS"/>
                <a:ea typeface="Trebuchet MS"/>
                <a:cs typeface="Trebuchet MS"/>
                <a:sym typeface="Trebuchet MS"/>
              </a:rPr>
              <a:t>PURPOSE </a:t>
            </a:r>
            <a:r>
              <a:rPr b="0" i="0" lang="en-US" sz="1700" u="none" cap="none" strike="noStrike">
                <a:solidFill>
                  <a:schemeClr val="dk1"/>
                </a:solidFill>
                <a:latin typeface="Trebuchet MS"/>
                <a:ea typeface="Trebuchet MS"/>
                <a:cs typeface="Trebuchet MS"/>
                <a:sym typeface="Trebuchet MS"/>
              </a:rPr>
              <a:t>: To </a:t>
            </a:r>
            <a:r>
              <a:rPr lang="en-US" sz="1700">
                <a:solidFill>
                  <a:schemeClr val="dk1"/>
                </a:solidFill>
                <a:latin typeface="Trebuchet MS"/>
                <a:ea typeface="Trebuchet MS"/>
                <a:cs typeface="Trebuchet MS"/>
                <a:sym typeface="Trebuchet MS"/>
              </a:rPr>
              <a:t>avoid incorrect attributions or to catch rogue trades if any.</a:t>
            </a:r>
            <a:br>
              <a:rPr lang="en-US" sz="1700">
                <a:solidFill>
                  <a:schemeClr val="dk1"/>
                </a:solidFill>
                <a:latin typeface="Trebuchet MS"/>
                <a:ea typeface="Trebuchet MS"/>
                <a:cs typeface="Trebuchet MS"/>
                <a:sym typeface="Trebuchet MS"/>
              </a:rPr>
            </a:br>
            <a:r>
              <a:rPr lang="en-US" sz="1700">
                <a:solidFill>
                  <a:schemeClr val="dk1"/>
                </a:solidFill>
                <a:latin typeface="Trebuchet MS"/>
                <a:ea typeface="Trebuchet MS"/>
                <a:cs typeface="Trebuchet MS"/>
                <a:sym typeface="Trebuchet MS"/>
              </a:rPr>
              <a:t>To ensure completeness of EOD reporting.</a:t>
            </a:r>
            <a:endParaRPr b="0" i="0" sz="1700" u="none" cap="none" strike="noStrike">
              <a:solidFill>
                <a:schemeClr val="dk1"/>
              </a:solidFill>
              <a:latin typeface="Trebuchet MS"/>
              <a:ea typeface="Trebuchet MS"/>
              <a:cs typeface="Trebuchet MS"/>
              <a:sym typeface="Trebuchet MS"/>
            </a:endParaRPr>
          </a:p>
        </p:txBody>
      </p:sp>
      <p:cxnSp>
        <p:nvCxnSpPr>
          <p:cNvPr id="154" name="Google Shape;154;g36060b6bc62_0_111"/>
          <p:cNvCxnSpPr>
            <a:stCxn id="151" idx="6"/>
            <a:endCxn id="153" idx="1"/>
          </p:cNvCxnSpPr>
          <p:nvPr/>
        </p:nvCxnSpPr>
        <p:spPr>
          <a:xfrm flipH="1" rot="10800000">
            <a:off x="2724000" y="3971725"/>
            <a:ext cx="970500" cy="49800"/>
          </a:xfrm>
          <a:prstGeom prst="curvedConnector3">
            <a:avLst>
              <a:gd fmla="val 50000" name="adj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p4"/>
          <p:cNvSpPr/>
          <p:nvPr/>
        </p:nvSpPr>
        <p:spPr>
          <a:xfrm>
            <a:off x="911325" y="3296291"/>
            <a:ext cx="7028815" cy="1063400"/>
          </a:xfrm>
          <a:custGeom>
            <a:rect b="b" l="l" r="r" t="t"/>
            <a:pathLst>
              <a:path extrusionOk="0" h="741045" w="7028815">
                <a:moveTo>
                  <a:pt x="0" y="4902"/>
                </a:moveTo>
                <a:lnTo>
                  <a:pt x="0" y="740740"/>
                </a:lnTo>
              </a:path>
              <a:path extrusionOk="0" h="741045" w="7028815">
                <a:moveTo>
                  <a:pt x="19050" y="735914"/>
                </a:moveTo>
                <a:lnTo>
                  <a:pt x="7028433" y="735914"/>
                </a:lnTo>
                <a:lnTo>
                  <a:pt x="7028433" y="0"/>
                </a:lnTo>
                <a:lnTo>
                  <a:pt x="19050" y="0"/>
                </a:lnTo>
                <a:lnTo>
                  <a:pt x="19050" y="735914"/>
                </a:lnTo>
                <a:close/>
              </a:path>
            </a:pathLst>
          </a:custGeom>
          <a:noFill/>
          <a:ln cap="flat" cmpd="sng" w="190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0" name="Google Shape;160;p4"/>
          <p:cNvGrpSpPr/>
          <p:nvPr/>
        </p:nvGrpSpPr>
        <p:grpSpPr>
          <a:xfrm>
            <a:off x="544011" y="3473626"/>
            <a:ext cx="708785" cy="708725"/>
            <a:chOff x="599960" y="3149600"/>
            <a:chExt cx="582930" cy="582929"/>
          </a:xfrm>
        </p:grpSpPr>
        <p:sp>
          <p:nvSpPr>
            <p:cNvPr id="161" name="Google Shape;161;p4"/>
            <p:cNvSpPr/>
            <p:nvPr/>
          </p:nvSpPr>
          <p:spPr>
            <a:xfrm>
              <a:off x="599960" y="3149600"/>
              <a:ext cx="582930" cy="582929"/>
            </a:xfrm>
            <a:custGeom>
              <a:rect b="b" l="l" r="r" t="t"/>
              <a:pathLst>
                <a:path extrusionOk="0" h="582929" w="582930">
                  <a:moveTo>
                    <a:pt x="291274" y="0"/>
                  </a:moveTo>
                  <a:lnTo>
                    <a:pt x="244030" y="3812"/>
                  </a:lnTo>
                  <a:lnTo>
                    <a:pt x="199212" y="14851"/>
                  </a:lnTo>
                  <a:lnTo>
                    <a:pt x="157420" y="32517"/>
                  </a:lnTo>
                  <a:lnTo>
                    <a:pt x="119255" y="56209"/>
                  </a:lnTo>
                  <a:lnTo>
                    <a:pt x="85315" y="85328"/>
                  </a:lnTo>
                  <a:lnTo>
                    <a:pt x="56201" y="119274"/>
                  </a:lnTo>
                  <a:lnTo>
                    <a:pt x="32513" y="157448"/>
                  </a:lnTo>
                  <a:lnTo>
                    <a:pt x="14850" y="199249"/>
                  </a:lnTo>
                  <a:lnTo>
                    <a:pt x="3812" y="244079"/>
                  </a:lnTo>
                  <a:lnTo>
                    <a:pt x="0" y="291338"/>
                  </a:lnTo>
                  <a:lnTo>
                    <a:pt x="3812" y="338592"/>
                  </a:lnTo>
                  <a:lnTo>
                    <a:pt x="14850" y="383413"/>
                  </a:lnTo>
                  <a:lnTo>
                    <a:pt x="32513" y="425200"/>
                  </a:lnTo>
                  <a:lnTo>
                    <a:pt x="56201" y="463356"/>
                  </a:lnTo>
                  <a:lnTo>
                    <a:pt x="85315" y="497284"/>
                  </a:lnTo>
                  <a:lnTo>
                    <a:pt x="119255" y="526384"/>
                  </a:lnTo>
                  <a:lnTo>
                    <a:pt x="157420" y="550059"/>
                  </a:lnTo>
                  <a:lnTo>
                    <a:pt x="199212" y="567710"/>
                  </a:lnTo>
                  <a:lnTo>
                    <a:pt x="244030" y="578739"/>
                  </a:lnTo>
                  <a:lnTo>
                    <a:pt x="291274" y="582549"/>
                  </a:lnTo>
                  <a:lnTo>
                    <a:pt x="338521" y="578739"/>
                  </a:lnTo>
                  <a:lnTo>
                    <a:pt x="383341" y="567710"/>
                  </a:lnTo>
                  <a:lnTo>
                    <a:pt x="425133" y="550059"/>
                  </a:lnTo>
                  <a:lnTo>
                    <a:pt x="463299" y="526384"/>
                  </a:lnTo>
                  <a:lnTo>
                    <a:pt x="497238" y="497284"/>
                  </a:lnTo>
                  <a:lnTo>
                    <a:pt x="526351" y="463356"/>
                  </a:lnTo>
                  <a:lnTo>
                    <a:pt x="550038" y="425200"/>
                  </a:lnTo>
                  <a:lnTo>
                    <a:pt x="567700" y="383413"/>
                  </a:lnTo>
                  <a:lnTo>
                    <a:pt x="578736" y="338592"/>
                  </a:lnTo>
                  <a:lnTo>
                    <a:pt x="582549" y="291338"/>
                  </a:lnTo>
                  <a:lnTo>
                    <a:pt x="578736" y="244079"/>
                  </a:lnTo>
                  <a:lnTo>
                    <a:pt x="567700" y="199249"/>
                  </a:lnTo>
                  <a:lnTo>
                    <a:pt x="550038" y="157448"/>
                  </a:lnTo>
                  <a:lnTo>
                    <a:pt x="526351" y="119274"/>
                  </a:lnTo>
                  <a:lnTo>
                    <a:pt x="497238" y="85328"/>
                  </a:lnTo>
                  <a:lnTo>
                    <a:pt x="463299" y="56209"/>
                  </a:lnTo>
                  <a:lnTo>
                    <a:pt x="425133" y="32517"/>
                  </a:lnTo>
                  <a:lnTo>
                    <a:pt x="383341" y="14851"/>
                  </a:lnTo>
                  <a:lnTo>
                    <a:pt x="338521" y="3812"/>
                  </a:lnTo>
                  <a:lnTo>
                    <a:pt x="2912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599960" y="3149600"/>
              <a:ext cx="582930" cy="582929"/>
            </a:xfrm>
            <a:custGeom>
              <a:rect b="b" l="l" r="r" t="t"/>
              <a:pathLst>
                <a:path extrusionOk="0" h="582929" w="582930">
                  <a:moveTo>
                    <a:pt x="0" y="291338"/>
                  </a:moveTo>
                  <a:lnTo>
                    <a:pt x="3812" y="244079"/>
                  </a:lnTo>
                  <a:lnTo>
                    <a:pt x="14850" y="199249"/>
                  </a:lnTo>
                  <a:lnTo>
                    <a:pt x="32513" y="157448"/>
                  </a:lnTo>
                  <a:lnTo>
                    <a:pt x="56201" y="119274"/>
                  </a:lnTo>
                  <a:lnTo>
                    <a:pt x="85315" y="85328"/>
                  </a:lnTo>
                  <a:lnTo>
                    <a:pt x="119255" y="56209"/>
                  </a:lnTo>
                  <a:lnTo>
                    <a:pt x="157420" y="32517"/>
                  </a:lnTo>
                  <a:lnTo>
                    <a:pt x="199212" y="14851"/>
                  </a:lnTo>
                  <a:lnTo>
                    <a:pt x="244030" y="3812"/>
                  </a:lnTo>
                  <a:lnTo>
                    <a:pt x="291274" y="0"/>
                  </a:lnTo>
                  <a:lnTo>
                    <a:pt x="338521" y="3812"/>
                  </a:lnTo>
                  <a:lnTo>
                    <a:pt x="383341" y="14851"/>
                  </a:lnTo>
                  <a:lnTo>
                    <a:pt x="425133" y="32517"/>
                  </a:lnTo>
                  <a:lnTo>
                    <a:pt x="463299" y="56209"/>
                  </a:lnTo>
                  <a:lnTo>
                    <a:pt x="497238" y="85328"/>
                  </a:lnTo>
                  <a:lnTo>
                    <a:pt x="526351" y="119274"/>
                  </a:lnTo>
                  <a:lnTo>
                    <a:pt x="550038" y="157448"/>
                  </a:lnTo>
                  <a:lnTo>
                    <a:pt x="567700" y="199249"/>
                  </a:lnTo>
                  <a:lnTo>
                    <a:pt x="578736" y="244079"/>
                  </a:lnTo>
                  <a:lnTo>
                    <a:pt x="582549" y="291338"/>
                  </a:lnTo>
                  <a:lnTo>
                    <a:pt x="578736" y="338592"/>
                  </a:lnTo>
                  <a:lnTo>
                    <a:pt x="567700" y="383413"/>
                  </a:lnTo>
                  <a:lnTo>
                    <a:pt x="550038" y="425200"/>
                  </a:lnTo>
                  <a:lnTo>
                    <a:pt x="526351" y="463356"/>
                  </a:lnTo>
                  <a:lnTo>
                    <a:pt x="497238" y="497284"/>
                  </a:lnTo>
                  <a:lnTo>
                    <a:pt x="463299" y="526384"/>
                  </a:lnTo>
                  <a:lnTo>
                    <a:pt x="425133" y="550059"/>
                  </a:lnTo>
                  <a:lnTo>
                    <a:pt x="383341" y="567710"/>
                  </a:lnTo>
                  <a:lnTo>
                    <a:pt x="338521" y="578739"/>
                  </a:lnTo>
                  <a:lnTo>
                    <a:pt x="291274" y="582549"/>
                  </a:lnTo>
                  <a:lnTo>
                    <a:pt x="244030" y="578739"/>
                  </a:lnTo>
                  <a:lnTo>
                    <a:pt x="199212" y="567710"/>
                  </a:lnTo>
                  <a:lnTo>
                    <a:pt x="157420" y="550059"/>
                  </a:lnTo>
                  <a:lnTo>
                    <a:pt x="119255" y="526384"/>
                  </a:lnTo>
                  <a:lnTo>
                    <a:pt x="85315" y="497284"/>
                  </a:lnTo>
                  <a:lnTo>
                    <a:pt x="56201" y="463356"/>
                  </a:lnTo>
                  <a:lnTo>
                    <a:pt x="32513" y="425200"/>
                  </a:lnTo>
                  <a:lnTo>
                    <a:pt x="14850" y="383413"/>
                  </a:lnTo>
                  <a:lnTo>
                    <a:pt x="3812" y="338592"/>
                  </a:lnTo>
                  <a:lnTo>
                    <a:pt x="0" y="291338"/>
                  </a:lnTo>
                  <a:close/>
                </a:path>
              </a:pathLst>
            </a:custGeom>
            <a:noFill/>
            <a:ln cap="flat" cmpd="sng" w="9525">
              <a:solidFill>
                <a:srgbClr val="C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4"/>
          <p:cNvGrpSpPr/>
          <p:nvPr/>
        </p:nvGrpSpPr>
        <p:grpSpPr>
          <a:xfrm>
            <a:off x="383718" y="4718033"/>
            <a:ext cx="708805" cy="255269"/>
            <a:chOff x="383718" y="4718033"/>
            <a:chExt cx="708805" cy="255269"/>
          </a:xfrm>
        </p:grpSpPr>
        <p:pic>
          <p:nvPicPr>
            <p:cNvPr id="164" name="Google Shape;164;p4"/>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165" name="Google Shape;165;p4"/>
            <p:cNvSpPr/>
            <p:nvPr/>
          </p:nvSpPr>
          <p:spPr>
            <a:xfrm>
              <a:off x="660723" y="4754477"/>
              <a:ext cx="431800" cy="177165"/>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4"/>
          <p:cNvSpPr/>
          <p:nvPr/>
        </p:nvSpPr>
        <p:spPr>
          <a:xfrm>
            <a:off x="394659" y="782682"/>
            <a:ext cx="8354695" cy="0"/>
          </a:xfrm>
          <a:custGeom>
            <a:rect b="b" l="l" r="r" t="t"/>
            <a:pathLst>
              <a:path extrusionOk="0" h="120000" w="8354695">
                <a:moveTo>
                  <a:pt x="0" y="0"/>
                </a:moveTo>
                <a:lnTo>
                  <a:pt x="8354326" y="0"/>
                </a:lnTo>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911325" y="2201975"/>
            <a:ext cx="7028815" cy="943874"/>
          </a:xfrm>
          <a:custGeom>
            <a:rect b="b" l="l" r="r" t="t"/>
            <a:pathLst>
              <a:path extrusionOk="0" h="735964" w="7028815">
                <a:moveTo>
                  <a:pt x="0" y="76"/>
                </a:moveTo>
                <a:lnTo>
                  <a:pt x="0" y="735914"/>
                </a:lnTo>
              </a:path>
              <a:path extrusionOk="0" h="735964" w="7028815">
                <a:moveTo>
                  <a:pt x="19050" y="735914"/>
                </a:moveTo>
                <a:lnTo>
                  <a:pt x="7028433" y="735914"/>
                </a:lnTo>
                <a:lnTo>
                  <a:pt x="7028433" y="0"/>
                </a:lnTo>
                <a:lnTo>
                  <a:pt x="19050" y="0"/>
                </a:lnTo>
                <a:lnTo>
                  <a:pt x="19050" y="735914"/>
                </a:lnTo>
                <a:close/>
              </a:path>
            </a:pathLst>
          </a:custGeom>
          <a:noFill/>
          <a:ln cap="flat" cmpd="sng" w="190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
          <p:cNvSpPr/>
          <p:nvPr/>
        </p:nvSpPr>
        <p:spPr>
          <a:xfrm>
            <a:off x="911325" y="1126648"/>
            <a:ext cx="7028815" cy="943874"/>
          </a:xfrm>
          <a:custGeom>
            <a:rect b="b" l="l" r="r" t="t"/>
            <a:pathLst>
              <a:path extrusionOk="0" h="735964" w="7028815">
                <a:moveTo>
                  <a:pt x="0" y="76"/>
                </a:moveTo>
                <a:lnTo>
                  <a:pt x="0" y="735914"/>
                </a:lnTo>
              </a:path>
              <a:path extrusionOk="0" h="735964" w="7028815">
                <a:moveTo>
                  <a:pt x="19050" y="735914"/>
                </a:moveTo>
                <a:lnTo>
                  <a:pt x="7028433" y="735914"/>
                </a:lnTo>
                <a:lnTo>
                  <a:pt x="7028433" y="0"/>
                </a:lnTo>
                <a:lnTo>
                  <a:pt x="19050" y="0"/>
                </a:lnTo>
                <a:lnTo>
                  <a:pt x="19050" y="735914"/>
                </a:lnTo>
                <a:close/>
              </a:path>
            </a:pathLst>
          </a:custGeom>
          <a:noFill/>
          <a:ln cap="flat" cmpd="sng" w="190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1365600" y="2299350"/>
            <a:ext cx="6430500" cy="749100"/>
          </a:xfrm>
          <a:prstGeom prst="rect">
            <a:avLst/>
          </a:prstGeom>
          <a:noFill/>
          <a:ln>
            <a:noFill/>
          </a:ln>
        </p:spPr>
        <p:txBody>
          <a:bodyPr anchorCtr="0" anchor="t" bIns="0" lIns="0" spcFirstLastPara="1" rIns="0" wrap="square" tIns="37450">
            <a:spAutoFit/>
          </a:bodyPr>
          <a:lstStyle/>
          <a:p>
            <a:pPr indent="0" lvl="0" marL="12700" marR="0" rtl="0" algn="l">
              <a:lnSpc>
                <a:spcPct val="115000"/>
              </a:lnSpc>
              <a:spcBef>
                <a:spcPts val="190"/>
              </a:spcBef>
              <a:spcAft>
                <a:spcPts val="0"/>
              </a:spcAft>
              <a:buClr>
                <a:srgbClr val="000000"/>
              </a:buClr>
              <a:buSzPts val="1400"/>
              <a:buFont typeface="Arial"/>
              <a:buNone/>
            </a:pPr>
            <a:r>
              <a:rPr b="1" i="0" lang="en-US" sz="1400" u="none" cap="none" strike="noStrike">
                <a:solidFill>
                  <a:srgbClr val="E60000"/>
                </a:solidFill>
                <a:latin typeface="Trebuchet MS"/>
                <a:ea typeface="Trebuchet MS"/>
                <a:cs typeface="Trebuchet MS"/>
                <a:sym typeface="Trebuchet MS"/>
              </a:rPr>
              <a:t>HIGH-LEVEL UNDERSTANDING OF INTERNAL IB SYSTEMS</a:t>
            </a:r>
            <a:r>
              <a:rPr b="0" i="0" lang="en-US" sz="1400" u="none" cap="none" strike="noStrike">
                <a:solidFill>
                  <a:srgbClr val="000000"/>
                </a:solidFill>
                <a:latin typeface="Trebuchet MS"/>
                <a:ea typeface="Trebuchet MS"/>
                <a:cs typeface="Trebuchet MS"/>
                <a:sym typeface="Trebuchet MS"/>
              </a:rPr>
              <a:t> :- </a:t>
            </a:r>
            <a:br>
              <a:rPr b="0" i="0" lang="en-US" sz="1400" u="none" cap="none" strike="noStrike">
                <a:solidFill>
                  <a:srgbClr val="000000"/>
                </a:solidFill>
                <a:latin typeface="Trebuchet MS"/>
                <a:ea typeface="Trebuchet MS"/>
                <a:cs typeface="Trebuchet MS"/>
                <a:sym typeface="Trebuchet MS"/>
              </a:rPr>
            </a:br>
            <a:r>
              <a:rPr b="0" i="1" lang="en-US" sz="1400" u="none" cap="none" strike="noStrike">
                <a:solidFill>
                  <a:srgbClr val="000000"/>
                </a:solidFill>
                <a:latin typeface="Trebuchet MS"/>
                <a:ea typeface="Trebuchet MS"/>
                <a:cs typeface="Trebuchet MS"/>
                <a:sym typeface="Trebuchet MS"/>
              </a:rPr>
              <a:t>1. Front-to-back trade data flow and controls,</a:t>
            </a:r>
            <a:br>
              <a:rPr b="0" i="1" lang="en-US" sz="1400" u="none" cap="none" strike="noStrike">
                <a:solidFill>
                  <a:srgbClr val="000000"/>
                </a:solidFill>
                <a:latin typeface="Trebuchet MS"/>
                <a:ea typeface="Trebuchet MS"/>
                <a:cs typeface="Trebuchet MS"/>
                <a:sym typeface="Trebuchet MS"/>
              </a:rPr>
            </a:br>
            <a:r>
              <a:rPr b="0" i="1" lang="en-US" sz="1400" u="none" cap="none" strike="noStrike">
                <a:solidFill>
                  <a:srgbClr val="000000"/>
                </a:solidFill>
                <a:latin typeface="Trebuchet MS"/>
                <a:ea typeface="Trebuchet MS"/>
                <a:cs typeface="Trebuchet MS"/>
                <a:sym typeface="Trebuchet MS"/>
              </a:rPr>
              <a:t>2. Range of source systems and applications involved in investment banking.</a:t>
            </a:r>
            <a:r>
              <a:rPr b="0" i="0" lang="en-US" sz="1400" u="none" cap="none" strike="noStrike">
                <a:solidFill>
                  <a:srgbClr val="000000"/>
                </a:solidFill>
                <a:latin typeface="Trebuchet MS"/>
                <a:ea typeface="Trebuchet MS"/>
                <a:cs typeface="Trebuchet MS"/>
                <a:sym typeface="Trebuchet MS"/>
              </a:rPr>
              <a:t> </a:t>
            </a:r>
            <a:endParaRPr b="0" i="0" sz="1400" u="none" cap="none" strike="noStrike">
              <a:solidFill>
                <a:srgbClr val="000000"/>
              </a:solidFill>
              <a:latin typeface="Trebuchet MS"/>
              <a:ea typeface="Trebuchet MS"/>
              <a:cs typeface="Trebuchet MS"/>
              <a:sym typeface="Trebuchet MS"/>
            </a:endParaRPr>
          </a:p>
        </p:txBody>
      </p:sp>
      <p:sp>
        <p:nvSpPr>
          <p:cNvPr id="170" name="Google Shape;170;p4"/>
          <p:cNvSpPr txBox="1"/>
          <p:nvPr/>
        </p:nvSpPr>
        <p:spPr>
          <a:xfrm>
            <a:off x="1365600" y="1245300"/>
            <a:ext cx="6430500" cy="723900"/>
          </a:xfrm>
          <a:prstGeom prst="rect">
            <a:avLst/>
          </a:prstGeom>
          <a:noFill/>
          <a:ln>
            <a:noFill/>
          </a:ln>
        </p:spPr>
        <p:txBody>
          <a:bodyPr anchorCtr="0" anchor="t" bIns="0" lIns="0" spcFirstLastPara="1" rIns="0" wrap="square" tIns="12700">
            <a:spAutoFit/>
          </a:bodyPr>
          <a:lstStyle/>
          <a:p>
            <a:pPr indent="0" lvl="0" marL="0" marR="0" rtl="0" algn="l">
              <a:lnSpc>
                <a:spcPct val="115000"/>
              </a:lnSpc>
              <a:spcBef>
                <a:spcPts val="0"/>
              </a:spcBef>
              <a:spcAft>
                <a:spcPts val="0"/>
              </a:spcAft>
              <a:buClr>
                <a:srgbClr val="000000"/>
              </a:buClr>
              <a:buSzPts val="1400"/>
              <a:buFont typeface="Arial"/>
              <a:buNone/>
            </a:pPr>
            <a:r>
              <a:rPr b="1" i="0" lang="en-US" u="none" cap="none" strike="noStrike">
                <a:solidFill>
                  <a:srgbClr val="E60000"/>
                </a:solidFill>
                <a:latin typeface="Trebuchet MS"/>
                <a:ea typeface="Trebuchet MS"/>
                <a:cs typeface="Trebuchet MS"/>
                <a:sym typeface="Trebuchet MS"/>
              </a:rPr>
              <a:t>BOOK-KEEPING PRACTICES WITHIN INVESTMENT BANKS</a:t>
            </a:r>
            <a:r>
              <a:rPr b="0" i="0" lang="en-US" u="none" cap="none" strike="noStrike">
                <a:solidFill>
                  <a:srgbClr val="000000"/>
                </a:solidFill>
                <a:latin typeface="Trebuchet MS"/>
                <a:ea typeface="Trebuchet MS"/>
                <a:cs typeface="Trebuchet MS"/>
                <a:sym typeface="Trebuchet MS"/>
              </a:rPr>
              <a:t> :-</a:t>
            </a:r>
            <a:br>
              <a:rPr b="0" i="0" lang="en-US" u="none" cap="none" strike="noStrike">
                <a:solidFill>
                  <a:srgbClr val="000000"/>
                </a:solidFill>
                <a:latin typeface="Trebuchet MS"/>
                <a:ea typeface="Trebuchet MS"/>
                <a:cs typeface="Trebuchet MS"/>
                <a:sym typeface="Trebuchet MS"/>
              </a:rPr>
            </a:br>
            <a:r>
              <a:rPr b="0" i="1" lang="en-US" u="none" cap="none" strike="noStrike">
                <a:solidFill>
                  <a:srgbClr val="000000"/>
                </a:solidFill>
                <a:latin typeface="Trebuchet MS"/>
                <a:ea typeface="Trebuchet MS"/>
                <a:cs typeface="Trebuchet MS"/>
                <a:sym typeface="Trebuchet MS"/>
              </a:rPr>
              <a:t>1. Sub-attribute level understanding of recording the banking P&amp;L statements.</a:t>
            </a:r>
            <a:endParaRPr b="0" i="1" u="none" cap="none" strike="noStrike">
              <a:solidFill>
                <a:srgbClr val="000000"/>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1400"/>
              <a:buFont typeface="Arial"/>
              <a:buNone/>
            </a:pPr>
            <a:r>
              <a:rPr b="0" i="1" lang="en-US" u="none" cap="none" strike="noStrike">
                <a:solidFill>
                  <a:srgbClr val="000000"/>
                </a:solidFill>
                <a:latin typeface="Trebuchet MS"/>
                <a:ea typeface="Trebuchet MS"/>
                <a:cs typeface="Trebuchet MS"/>
                <a:sym typeface="Trebuchet MS"/>
              </a:rPr>
              <a:t>2. Standard checks in place to ensure precise reporting, and minimizing risks.</a:t>
            </a:r>
            <a:endParaRPr b="0" i="1" u="none" cap="none" strike="noStrike">
              <a:solidFill>
                <a:srgbClr val="000000"/>
              </a:solidFill>
              <a:latin typeface="Trebuchet MS"/>
              <a:ea typeface="Trebuchet MS"/>
              <a:cs typeface="Trebuchet MS"/>
              <a:sym typeface="Trebuchet MS"/>
            </a:endParaRPr>
          </a:p>
        </p:txBody>
      </p:sp>
      <p:sp>
        <p:nvSpPr>
          <p:cNvPr id="171" name="Google Shape;171;p4"/>
          <p:cNvSpPr txBox="1"/>
          <p:nvPr/>
        </p:nvSpPr>
        <p:spPr>
          <a:xfrm>
            <a:off x="281700" y="147300"/>
            <a:ext cx="8862300" cy="585000"/>
          </a:xfrm>
          <a:prstGeom prst="rect">
            <a:avLst/>
          </a:prstGeom>
          <a:noFill/>
          <a:ln>
            <a:noFill/>
          </a:ln>
        </p:spPr>
        <p:txBody>
          <a:bodyPr anchorCtr="0" anchor="t" bIns="91425" lIns="91425" spcFirstLastPara="1" rIns="91425" wrap="square" tIns="91425">
            <a:spAutoFit/>
          </a:bodyPr>
          <a:lstStyle/>
          <a:p>
            <a:pPr indent="0" lvl="0" marL="12700" marR="0" rtl="0" algn="l">
              <a:lnSpc>
                <a:spcPct val="100000"/>
              </a:lnSpc>
              <a:spcBef>
                <a:spcPts val="0"/>
              </a:spcBef>
              <a:spcAft>
                <a:spcPts val="0"/>
              </a:spcAft>
              <a:buClr>
                <a:srgbClr val="000000"/>
              </a:buClr>
              <a:buSzPts val="2600"/>
              <a:buFont typeface="Arial"/>
              <a:buNone/>
            </a:pPr>
            <a:r>
              <a:rPr b="1" i="1" lang="en-US" sz="2600" u="none" cap="none" strike="noStrike">
                <a:solidFill>
                  <a:schemeClr val="dk1"/>
                </a:solidFill>
                <a:latin typeface="Helvetica Neue"/>
                <a:ea typeface="Helvetica Neue"/>
                <a:cs typeface="Helvetica Neue"/>
                <a:sym typeface="Helvetica Neue"/>
              </a:rPr>
              <a:t>Key </a:t>
            </a:r>
            <a:r>
              <a:rPr b="1" i="1" lang="en-US" sz="2600" u="none" cap="none" strike="noStrike">
                <a:solidFill>
                  <a:srgbClr val="E60000"/>
                </a:solidFill>
                <a:latin typeface="Helvetica Neue"/>
                <a:ea typeface="Helvetica Neue"/>
                <a:cs typeface="Helvetica Neue"/>
                <a:sym typeface="Helvetica Neue"/>
              </a:rPr>
              <a:t>Learning </a:t>
            </a:r>
            <a:r>
              <a:rPr b="1" i="1" lang="en-US" sz="2600" u="none" cap="none" strike="noStrike">
                <a:solidFill>
                  <a:schemeClr val="dk1"/>
                </a:solidFill>
                <a:latin typeface="Helvetica Neue"/>
                <a:ea typeface="Helvetica Neue"/>
                <a:cs typeface="Helvetica Neue"/>
                <a:sym typeface="Helvetica Neue"/>
              </a:rPr>
              <a:t>Experiences</a:t>
            </a:r>
            <a:endParaRPr b="1" i="1" sz="2600" u="none" cap="none" strike="noStrike">
              <a:solidFill>
                <a:schemeClr val="dk1"/>
              </a:solidFill>
              <a:latin typeface="Helvetica Neue"/>
              <a:ea typeface="Helvetica Neue"/>
              <a:cs typeface="Helvetica Neue"/>
              <a:sym typeface="Helvetica Neue"/>
            </a:endParaRPr>
          </a:p>
        </p:txBody>
      </p:sp>
      <p:pic>
        <p:nvPicPr>
          <p:cNvPr id="172" name="Google Shape;172;p4"/>
          <p:cNvPicPr preferRelativeResize="0"/>
          <p:nvPr/>
        </p:nvPicPr>
        <p:blipFill rotWithShape="1">
          <a:blip r:embed="rId4">
            <a:alphaModFix/>
          </a:blip>
          <a:srcRect b="0" l="0" r="0" t="0"/>
          <a:stretch/>
        </p:blipFill>
        <p:spPr>
          <a:xfrm>
            <a:off x="8145100" y="71001"/>
            <a:ext cx="613425" cy="613425"/>
          </a:xfrm>
          <a:prstGeom prst="rect">
            <a:avLst/>
          </a:prstGeom>
          <a:noFill/>
          <a:ln>
            <a:noFill/>
          </a:ln>
        </p:spPr>
      </p:pic>
      <p:sp>
        <p:nvSpPr>
          <p:cNvPr id="173" name="Google Shape;173;p4"/>
          <p:cNvSpPr txBox="1"/>
          <p:nvPr/>
        </p:nvSpPr>
        <p:spPr>
          <a:xfrm>
            <a:off x="8433307" y="4832096"/>
            <a:ext cx="325200" cy="10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7E7E7E"/>
                </a:solidFill>
                <a:latin typeface="Trebuchet MS"/>
                <a:ea typeface="Trebuchet MS"/>
                <a:cs typeface="Trebuchet MS"/>
                <a:sym typeface="Trebuchet MS"/>
              </a:rPr>
              <a:t>PAGE </a:t>
            </a:r>
            <a:r>
              <a:rPr b="0" i="0" lang="en-US" sz="600" u="none" cap="none" strike="noStrike">
                <a:solidFill>
                  <a:srgbClr val="000000"/>
                </a:solidFill>
                <a:latin typeface="Trebuchet MS"/>
                <a:ea typeface="Trebuchet MS"/>
                <a:cs typeface="Trebuchet MS"/>
                <a:sym typeface="Trebuchet MS"/>
              </a:rPr>
              <a:t>3</a:t>
            </a:r>
            <a:endParaRPr b="0" i="0" sz="600" u="none" cap="none" strike="noStrike">
              <a:solidFill>
                <a:srgbClr val="000000"/>
              </a:solidFill>
              <a:latin typeface="Trebuchet MS"/>
              <a:ea typeface="Trebuchet MS"/>
              <a:cs typeface="Trebuchet MS"/>
              <a:sym typeface="Trebuchet MS"/>
            </a:endParaRPr>
          </a:p>
        </p:txBody>
      </p:sp>
      <p:grpSp>
        <p:nvGrpSpPr>
          <p:cNvPr id="174" name="Google Shape;174;p4"/>
          <p:cNvGrpSpPr/>
          <p:nvPr/>
        </p:nvGrpSpPr>
        <p:grpSpPr>
          <a:xfrm>
            <a:off x="544011" y="1244226"/>
            <a:ext cx="708785" cy="708725"/>
            <a:chOff x="599960" y="3149600"/>
            <a:chExt cx="582930" cy="582929"/>
          </a:xfrm>
        </p:grpSpPr>
        <p:sp>
          <p:nvSpPr>
            <p:cNvPr id="175" name="Google Shape;175;p4"/>
            <p:cNvSpPr/>
            <p:nvPr/>
          </p:nvSpPr>
          <p:spPr>
            <a:xfrm>
              <a:off x="599960" y="3149600"/>
              <a:ext cx="582930" cy="582929"/>
            </a:xfrm>
            <a:custGeom>
              <a:rect b="b" l="l" r="r" t="t"/>
              <a:pathLst>
                <a:path extrusionOk="0" h="582929" w="582930">
                  <a:moveTo>
                    <a:pt x="291274" y="0"/>
                  </a:moveTo>
                  <a:lnTo>
                    <a:pt x="244030" y="3812"/>
                  </a:lnTo>
                  <a:lnTo>
                    <a:pt x="199212" y="14851"/>
                  </a:lnTo>
                  <a:lnTo>
                    <a:pt x="157420" y="32517"/>
                  </a:lnTo>
                  <a:lnTo>
                    <a:pt x="119255" y="56209"/>
                  </a:lnTo>
                  <a:lnTo>
                    <a:pt x="85315" y="85328"/>
                  </a:lnTo>
                  <a:lnTo>
                    <a:pt x="56201" y="119274"/>
                  </a:lnTo>
                  <a:lnTo>
                    <a:pt x="32513" y="157448"/>
                  </a:lnTo>
                  <a:lnTo>
                    <a:pt x="14850" y="199249"/>
                  </a:lnTo>
                  <a:lnTo>
                    <a:pt x="3812" y="244079"/>
                  </a:lnTo>
                  <a:lnTo>
                    <a:pt x="0" y="291338"/>
                  </a:lnTo>
                  <a:lnTo>
                    <a:pt x="3812" y="338592"/>
                  </a:lnTo>
                  <a:lnTo>
                    <a:pt x="14850" y="383413"/>
                  </a:lnTo>
                  <a:lnTo>
                    <a:pt x="32513" y="425200"/>
                  </a:lnTo>
                  <a:lnTo>
                    <a:pt x="56201" y="463356"/>
                  </a:lnTo>
                  <a:lnTo>
                    <a:pt x="85315" y="497284"/>
                  </a:lnTo>
                  <a:lnTo>
                    <a:pt x="119255" y="526384"/>
                  </a:lnTo>
                  <a:lnTo>
                    <a:pt x="157420" y="550059"/>
                  </a:lnTo>
                  <a:lnTo>
                    <a:pt x="199212" y="567710"/>
                  </a:lnTo>
                  <a:lnTo>
                    <a:pt x="244030" y="578739"/>
                  </a:lnTo>
                  <a:lnTo>
                    <a:pt x="291274" y="582549"/>
                  </a:lnTo>
                  <a:lnTo>
                    <a:pt x="338521" y="578739"/>
                  </a:lnTo>
                  <a:lnTo>
                    <a:pt x="383341" y="567710"/>
                  </a:lnTo>
                  <a:lnTo>
                    <a:pt x="425133" y="550059"/>
                  </a:lnTo>
                  <a:lnTo>
                    <a:pt x="463299" y="526384"/>
                  </a:lnTo>
                  <a:lnTo>
                    <a:pt x="497238" y="497284"/>
                  </a:lnTo>
                  <a:lnTo>
                    <a:pt x="526351" y="463356"/>
                  </a:lnTo>
                  <a:lnTo>
                    <a:pt x="550038" y="425200"/>
                  </a:lnTo>
                  <a:lnTo>
                    <a:pt x="567700" y="383413"/>
                  </a:lnTo>
                  <a:lnTo>
                    <a:pt x="578736" y="338592"/>
                  </a:lnTo>
                  <a:lnTo>
                    <a:pt x="582549" y="291338"/>
                  </a:lnTo>
                  <a:lnTo>
                    <a:pt x="578736" y="244079"/>
                  </a:lnTo>
                  <a:lnTo>
                    <a:pt x="567700" y="199249"/>
                  </a:lnTo>
                  <a:lnTo>
                    <a:pt x="550038" y="157448"/>
                  </a:lnTo>
                  <a:lnTo>
                    <a:pt x="526351" y="119274"/>
                  </a:lnTo>
                  <a:lnTo>
                    <a:pt x="497238" y="85328"/>
                  </a:lnTo>
                  <a:lnTo>
                    <a:pt x="463299" y="56209"/>
                  </a:lnTo>
                  <a:lnTo>
                    <a:pt x="425133" y="32517"/>
                  </a:lnTo>
                  <a:lnTo>
                    <a:pt x="383341" y="14851"/>
                  </a:lnTo>
                  <a:lnTo>
                    <a:pt x="338521" y="3812"/>
                  </a:lnTo>
                  <a:lnTo>
                    <a:pt x="2912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599960" y="3149600"/>
              <a:ext cx="582930" cy="582929"/>
            </a:xfrm>
            <a:custGeom>
              <a:rect b="b" l="l" r="r" t="t"/>
              <a:pathLst>
                <a:path extrusionOk="0" h="582929" w="582930">
                  <a:moveTo>
                    <a:pt x="0" y="291338"/>
                  </a:moveTo>
                  <a:lnTo>
                    <a:pt x="3812" y="244079"/>
                  </a:lnTo>
                  <a:lnTo>
                    <a:pt x="14850" y="199249"/>
                  </a:lnTo>
                  <a:lnTo>
                    <a:pt x="32513" y="157448"/>
                  </a:lnTo>
                  <a:lnTo>
                    <a:pt x="56201" y="119274"/>
                  </a:lnTo>
                  <a:lnTo>
                    <a:pt x="85315" y="85328"/>
                  </a:lnTo>
                  <a:lnTo>
                    <a:pt x="119255" y="56209"/>
                  </a:lnTo>
                  <a:lnTo>
                    <a:pt x="157420" y="32517"/>
                  </a:lnTo>
                  <a:lnTo>
                    <a:pt x="199212" y="14851"/>
                  </a:lnTo>
                  <a:lnTo>
                    <a:pt x="244030" y="3812"/>
                  </a:lnTo>
                  <a:lnTo>
                    <a:pt x="291274" y="0"/>
                  </a:lnTo>
                  <a:lnTo>
                    <a:pt x="338521" y="3812"/>
                  </a:lnTo>
                  <a:lnTo>
                    <a:pt x="383341" y="14851"/>
                  </a:lnTo>
                  <a:lnTo>
                    <a:pt x="425133" y="32517"/>
                  </a:lnTo>
                  <a:lnTo>
                    <a:pt x="463299" y="56209"/>
                  </a:lnTo>
                  <a:lnTo>
                    <a:pt x="497238" y="85328"/>
                  </a:lnTo>
                  <a:lnTo>
                    <a:pt x="526351" y="119274"/>
                  </a:lnTo>
                  <a:lnTo>
                    <a:pt x="550038" y="157448"/>
                  </a:lnTo>
                  <a:lnTo>
                    <a:pt x="567700" y="199249"/>
                  </a:lnTo>
                  <a:lnTo>
                    <a:pt x="578736" y="244079"/>
                  </a:lnTo>
                  <a:lnTo>
                    <a:pt x="582549" y="291338"/>
                  </a:lnTo>
                  <a:lnTo>
                    <a:pt x="578736" y="338592"/>
                  </a:lnTo>
                  <a:lnTo>
                    <a:pt x="567700" y="383413"/>
                  </a:lnTo>
                  <a:lnTo>
                    <a:pt x="550038" y="425200"/>
                  </a:lnTo>
                  <a:lnTo>
                    <a:pt x="526351" y="463356"/>
                  </a:lnTo>
                  <a:lnTo>
                    <a:pt x="497238" y="497284"/>
                  </a:lnTo>
                  <a:lnTo>
                    <a:pt x="463299" y="526384"/>
                  </a:lnTo>
                  <a:lnTo>
                    <a:pt x="425133" y="550059"/>
                  </a:lnTo>
                  <a:lnTo>
                    <a:pt x="383341" y="567710"/>
                  </a:lnTo>
                  <a:lnTo>
                    <a:pt x="338521" y="578739"/>
                  </a:lnTo>
                  <a:lnTo>
                    <a:pt x="291274" y="582549"/>
                  </a:lnTo>
                  <a:lnTo>
                    <a:pt x="244030" y="578739"/>
                  </a:lnTo>
                  <a:lnTo>
                    <a:pt x="199212" y="567710"/>
                  </a:lnTo>
                  <a:lnTo>
                    <a:pt x="157420" y="550059"/>
                  </a:lnTo>
                  <a:lnTo>
                    <a:pt x="119255" y="526384"/>
                  </a:lnTo>
                  <a:lnTo>
                    <a:pt x="85315" y="497284"/>
                  </a:lnTo>
                  <a:lnTo>
                    <a:pt x="56201" y="463356"/>
                  </a:lnTo>
                  <a:lnTo>
                    <a:pt x="32513" y="425200"/>
                  </a:lnTo>
                  <a:lnTo>
                    <a:pt x="14850" y="383413"/>
                  </a:lnTo>
                  <a:lnTo>
                    <a:pt x="3812" y="338592"/>
                  </a:lnTo>
                  <a:lnTo>
                    <a:pt x="0" y="291338"/>
                  </a:lnTo>
                  <a:close/>
                </a:path>
              </a:pathLst>
            </a:custGeom>
            <a:noFill/>
            <a:ln cap="flat" cmpd="sng" w="9525">
              <a:solidFill>
                <a:srgbClr val="C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Book image | Public domain vectors" id="177" name="Google Shape;177;p4"/>
          <p:cNvPicPr preferRelativeResize="0"/>
          <p:nvPr/>
        </p:nvPicPr>
        <p:blipFill rotWithShape="1">
          <a:blip r:embed="rId5">
            <a:alphaModFix/>
          </a:blip>
          <a:srcRect b="0" l="0" r="0" t="0"/>
          <a:stretch/>
        </p:blipFill>
        <p:spPr>
          <a:xfrm>
            <a:off x="613825" y="1420450"/>
            <a:ext cx="569100" cy="356275"/>
          </a:xfrm>
          <a:prstGeom prst="rect">
            <a:avLst/>
          </a:prstGeom>
          <a:noFill/>
          <a:ln>
            <a:noFill/>
          </a:ln>
        </p:spPr>
      </p:pic>
      <p:pic>
        <p:nvPicPr>
          <p:cNvPr id="178" name="Google Shape;178;p4"/>
          <p:cNvPicPr preferRelativeResize="0"/>
          <p:nvPr/>
        </p:nvPicPr>
        <p:blipFill rotWithShape="1">
          <a:blip r:embed="rId6">
            <a:alphaModFix/>
          </a:blip>
          <a:srcRect b="0" l="0" r="0" t="0"/>
          <a:stretch/>
        </p:blipFill>
        <p:spPr>
          <a:xfrm>
            <a:off x="694861" y="3630296"/>
            <a:ext cx="407080" cy="395429"/>
          </a:xfrm>
          <a:prstGeom prst="rect">
            <a:avLst/>
          </a:prstGeom>
          <a:noFill/>
          <a:ln>
            <a:noFill/>
          </a:ln>
        </p:spPr>
      </p:pic>
      <p:grpSp>
        <p:nvGrpSpPr>
          <p:cNvPr id="179" name="Google Shape;179;p4"/>
          <p:cNvGrpSpPr/>
          <p:nvPr/>
        </p:nvGrpSpPr>
        <p:grpSpPr>
          <a:xfrm>
            <a:off x="543986" y="2329051"/>
            <a:ext cx="708785" cy="708725"/>
            <a:chOff x="599960" y="3149600"/>
            <a:chExt cx="582930" cy="582929"/>
          </a:xfrm>
        </p:grpSpPr>
        <p:sp>
          <p:nvSpPr>
            <p:cNvPr id="180" name="Google Shape;180;p4"/>
            <p:cNvSpPr/>
            <p:nvPr/>
          </p:nvSpPr>
          <p:spPr>
            <a:xfrm>
              <a:off x="599960" y="3149600"/>
              <a:ext cx="582930" cy="582929"/>
            </a:xfrm>
            <a:custGeom>
              <a:rect b="b" l="l" r="r" t="t"/>
              <a:pathLst>
                <a:path extrusionOk="0" h="582929" w="582930">
                  <a:moveTo>
                    <a:pt x="291274" y="0"/>
                  </a:moveTo>
                  <a:lnTo>
                    <a:pt x="244030" y="3812"/>
                  </a:lnTo>
                  <a:lnTo>
                    <a:pt x="199212" y="14851"/>
                  </a:lnTo>
                  <a:lnTo>
                    <a:pt x="157420" y="32517"/>
                  </a:lnTo>
                  <a:lnTo>
                    <a:pt x="119255" y="56209"/>
                  </a:lnTo>
                  <a:lnTo>
                    <a:pt x="85315" y="85328"/>
                  </a:lnTo>
                  <a:lnTo>
                    <a:pt x="56201" y="119274"/>
                  </a:lnTo>
                  <a:lnTo>
                    <a:pt x="32513" y="157448"/>
                  </a:lnTo>
                  <a:lnTo>
                    <a:pt x="14850" y="199249"/>
                  </a:lnTo>
                  <a:lnTo>
                    <a:pt x="3812" y="244079"/>
                  </a:lnTo>
                  <a:lnTo>
                    <a:pt x="0" y="291338"/>
                  </a:lnTo>
                  <a:lnTo>
                    <a:pt x="3812" y="338592"/>
                  </a:lnTo>
                  <a:lnTo>
                    <a:pt x="14850" y="383413"/>
                  </a:lnTo>
                  <a:lnTo>
                    <a:pt x="32513" y="425200"/>
                  </a:lnTo>
                  <a:lnTo>
                    <a:pt x="56201" y="463356"/>
                  </a:lnTo>
                  <a:lnTo>
                    <a:pt x="85315" y="497284"/>
                  </a:lnTo>
                  <a:lnTo>
                    <a:pt x="119255" y="526384"/>
                  </a:lnTo>
                  <a:lnTo>
                    <a:pt x="157420" y="550059"/>
                  </a:lnTo>
                  <a:lnTo>
                    <a:pt x="199212" y="567710"/>
                  </a:lnTo>
                  <a:lnTo>
                    <a:pt x="244030" y="578739"/>
                  </a:lnTo>
                  <a:lnTo>
                    <a:pt x="291274" y="582549"/>
                  </a:lnTo>
                  <a:lnTo>
                    <a:pt x="338521" y="578739"/>
                  </a:lnTo>
                  <a:lnTo>
                    <a:pt x="383341" y="567710"/>
                  </a:lnTo>
                  <a:lnTo>
                    <a:pt x="425133" y="550059"/>
                  </a:lnTo>
                  <a:lnTo>
                    <a:pt x="463299" y="526384"/>
                  </a:lnTo>
                  <a:lnTo>
                    <a:pt x="497238" y="497284"/>
                  </a:lnTo>
                  <a:lnTo>
                    <a:pt x="526351" y="463356"/>
                  </a:lnTo>
                  <a:lnTo>
                    <a:pt x="550038" y="425200"/>
                  </a:lnTo>
                  <a:lnTo>
                    <a:pt x="567700" y="383413"/>
                  </a:lnTo>
                  <a:lnTo>
                    <a:pt x="578736" y="338592"/>
                  </a:lnTo>
                  <a:lnTo>
                    <a:pt x="582549" y="291338"/>
                  </a:lnTo>
                  <a:lnTo>
                    <a:pt x="578736" y="244079"/>
                  </a:lnTo>
                  <a:lnTo>
                    <a:pt x="567700" y="199249"/>
                  </a:lnTo>
                  <a:lnTo>
                    <a:pt x="550038" y="157448"/>
                  </a:lnTo>
                  <a:lnTo>
                    <a:pt x="526351" y="119274"/>
                  </a:lnTo>
                  <a:lnTo>
                    <a:pt x="497238" y="85328"/>
                  </a:lnTo>
                  <a:lnTo>
                    <a:pt x="463299" y="56209"/>
                  </a:lnTo>
                  <a:lnTo>
                    <a:pt x="425133" y="32517"/>
                  </a:lnTo>
                  <a:lnTo>
                    <a:pt x="383341" y="14851"/>
                  </a:lnTo>
                  <a:lnTo>
                    <a:pt x="338521" y="3812"/>
                  </a:lnTo>
                  <a:lnTo>
                    <a:pt x="2912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p:nvPr/>
          </p:nvSpPr>
          <p:spPr>
            <a:xfrm>
              <a:off x="599960" y="3149600"/>
              <a:ext cx="582930" cy="582929"/>
            </a:xfrm>
            <a:custGeom>
              <a:rect b="b" l="l" r="r" t="t"/>
              <a:pathLst>
                <a:path extrusionOk="0" h="582929" w="582930">
                  <a:moveTo>
                    <a:pt x="0" y="291338"/>
                  </a:moveTo>
                  <a:lnTo>
                    <a:pt x="3812" y="244079"/>
                  </a:lnTo>
                  <a:lnTo>
                    <a:pt x="14850" y="199249"/>
                  </a:lnTo>
                  <a:lnTo>
                    <a:pt x="32513" y="157448"/>
                  </a:lnTo>
                  <a:lnTo>
                    <a:pt x="56201" y="119274"/>
                  </a:lnTo>
                  <a:lnTo>
                    <a:pt x="85315" y="85328"/>
                  </a:lnTo>
                  <a:lnTo>
                    <a:pt x="119255" y="56209"/>
                  </a:lnTo>
                  <a:lnTo>
                    <a:pt x="157420" y="32517"/>
                  </a:lnTo>
                  <a:lnTo>
                    <a:pt x="199212" y="14851"/>
                  </a:lnTo>
                  <a:lnTo>
                    <a:pt x="244030" y="3812"/>
                  </a:lnTo>
                  <a:lnTo>
                    <a:pt x="291274" y="0"/>
                  </a:lnTo>
                  <a:lnTo>
                    <a:pt x="338521" y="3812"/>
                  </a:lnTo>
                  <a:lnTo>
                    <a:pt x="383341" y="14851"/>
                  </a:lnTo>
                  <a:lnTo>
                    <a:pt x="425133" y="32517"/>
                  </a:lnTo>
                  <a:lnTo>
                    <a:pt x="463299" y="56209"/>
                  </a:lnTo>
                  <a:lnTo>
                    <a:pt x="497238" y="85328"/>
                  </a:lnTo>
                  <a:lnTo>
                    <a:pt x="526351" y="119274"/>
                  </a:lnTo>
                  <a:lnTo>
                    <a:pt x="550038" y="157448"/>
                  </a:lnTo>
                  <a:lnTo>
                    <a:pt x="567700" y="199249"/>
                  </a:lnTo>
                  <a:lnTo>
                    <a:pt x="578736" y="244079"/>
                  </a:lnTo>
                  <a:lnTo>
                    <a:pt x="582549" y="291338"/>
                  </a:lnTo>
                  <a:lnTo>
                    <a:pt x="578736" y="338592"/>
                  </a:lnTo>
                  <a:lnTo>
                    <a:pt x="567700" y="383413"/>
                  </a:lnTo>
                  <a:lnTo>
                    <a:pt x="550038" y="425200"/>
                  </a:lnTo>
                  <a:lnTo>
                    <a:pt x="526351" y="463356"/>
                  </a:lnTo>
                  <a:lnTo>
                    <a:pt x="497238" y="497284"/>
                  </a:lnTo>
                  <a:lnTo>
                    <a:pt x="463299" y="526384"/>
                  </a:lnTo>
                  <a:lnTo>
                    <a:pt x="425133" y="550059"/>
                  </a:lnTo>
                  <a:lnTo>
                    <a:pt x="383341" y="567710"/>
                  </a:lnTo>
                  <a:lnTo>
                    <a:pt x="338521" y="578739"/>
                  </a:lnTo>
                  <a:lnTo>
                    <a:pt x="291274" y="582549"/>
                  </a:lnTo>
                  <a:lnTo>
                    <a:pt x="244030" y="578739"/>
                  </a:lnTo>
                  <a:lnTo>
                    <a:pt x="199212" y="567710"/>
                  </a:lnTo>
                  <a:lnTo>
                    <a:pt x="157420" y="550059"/>
                  </a:lnTo>
                  <a:lnTo>
                    <a:pt x="119255" y="526384"/>
                  </a:lnTo>
                  <a:lnTo>
                    <a:pt x="85315" y="497284"/>
                  </a:lnTo>
                  <a:lnTo>
                    <a:pt x="56201" y="463356"/>
                  </a:lnTo>
                  <a:lnTo>
                    <a:pt x="32513" y="425200"/>
                  </a:lnTo>
                  <a:lnTo>
                    <a:pt x="14850" y="383413"/>
                  </a:lnTo>
                  <a:lnTo>
                    <a:pt x="3812" y="338592"/>
                  </a:lnTo>
                  <a:lnTo>
                    <a:pt x="0" y="291338"/>
                  </a:lnTo>
                  <a:close/>
                </a:path>
              </a:pathLst>
            </a:custGeom>
            <a:noFill/>
            <a:ln cap="flat" cmpd="sng" w="9525">
              <a:solidFill>
                <a:srgbClr val="C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Desktop icon | Public domain vectors" id="182" name="Google Shape;182;p4"/>
          <p:cNvPicPr preferRelativeResize="0"/>
          <p:nvPr/>
        </p:nvPicPr>
        <p:blipFill rotWithShape="1">
          <a:blip r:embed="rId7">
            <a:alphaModFix/>
          </a:blip>
          <a:srcRect b="0" l="0" r="0" t="0"/>
          <a:stretch/>
        </p:blipFill>
        <p:spPr>
          <a:xfrm>
            <a:off x="647850" y="2457409"/>
            <a:ext cx="501100" cy="452000"/>
          </a:xfrm>
          <a:prstGeom prst="rect">
            <a:avLst/>
          </a:prstGeom>
          <a:noFill/>
          <a:ln>
            <a:noFill/>
          </a:ln>
        </p:spPr>
      </p:pic>
      <p:sp>
        <p:nvSpPr>
          <p:cNvPr id="183" name="Google Shape;183;p4"/>
          <p:cNvSpPr txBox="1"/>
          <p:nvPr/>
        </p:nvSpPr>
        <p:spPr>
          <a:xfrm>
            <a:off x="1365600" y="3334488"/>
            <a:ext cx="6574500" cy="987000"/>
          </a:xfrm>
          <a:prstGeom prst="rect">
            <a:avLst/>
          </a:prstGeom>
          <a:noFill/>
          <a:ln>
            <a:noFill/>
          </a:ln>
        </p:spPr>
        <p:txBody>
          <a:bodyPr anchorCtr="0" anchor="t" bIns="0" lIns="0" spcFirstLastPara="1" rIns="0" wrap="square" tIns="37450">
            <a:spAutoFit/>
          </a:bodyPr>
          <a:lstStyle/>
          <a:p>
            <a:pPr indent="0" lvl="0" marL="12700" marR="0" rtl="0" algn="l">
              <a:lnSpc>
                <a:spcPct val="115000"/>
              </a:lnSpc>
              <a:spcBef>
                <a:spcPts val="190"/>
              </a:spcBef>
              <a:spcAft>
                <a:spcPts val="0"/>
              </a:spcAft>
              <a:buClr>
                <a:srgbClr val="000000"/>
              </a:buClr>
              <a:buSzPts val="1350"/>
              <a:buFont typeface="Arial"/>
              <a:buNone/>
            </a:pPr>
            <a:r>
              <a:rPr b="1" i="0" lang="en-US" sz="1350" u="none" cap="none" strike="noStrike">
                <a:solidFill>
                  <a:srgbClr val="E60000"/>
                </a:solidFill>
                <a:latin typeface="Trebuchet MS"/>
                <a:ea typeface="Trebuchet MS"/>
                <a:cs typeface="Trebuchet MS"/>
                <a:sym typeface="Trebuchet MS"/>
              </a:rPr>
              <a:t>VALUABLE ORGANIZATIONAL SKILLS</a:t>
            </a:r>
            <a:r>
              <a:rPr b="0" i="0" lang="en-US" sz="1350" u="none" cap="none" strike="noStrike">
                <a:solidFill>
                  <a:srgbClr val="000000"/>
                </a:solidFill>
                <a:latin typeface="Trebuchet MS"/>
                <a:ea typeface="Trebuchet MS"/>
                <a:cs typeface="Trebuchet MS"/>
                <a:sym typeface="Trebuchet MS"/>
              </a:rPr>
              <a:t> :- </a:t>
            </a:r>
            <a:br>
              <a:rPr b="0" i="0" lang="en-US" sz="1350" u="none" cap="none" strike="noStrike">
                <a:solidFill>
                  <a:srgbClr val="000000"/>
                </a:solidFill>
                <a:latin typeface="Trebuchet MS"/>
                <a:ea typeface="Trebuchet MS"/>
                <a:cs typeface="Trebuchet MS"/>
                <a:sym typeface="Trebuchet MS"/>
              </a:rPr>
            </a:br>
            <a:r>
              <a:rPr b="0" i="1" lang="en-US" sz="1350" u="none" cap="none" strike="noStrike">
                <a:solidFill>
                  <a:srgbClr val="000000"/>
                </a:solidFill>
                <a:latin typeface="Trebuchet MS"/>
                <a:ea typeface="Trebuchet MS"/>
                <a:cs typeface="Trebuchet MS"/>
                <a:sym typeface="Trebuchet MS"/>
              </a:rPr>
              <a:t>1. Time-management from working in a fast-paced, high-pressure function requiring keen attention to detail.</a:t>
            </a:r>
            <a:endParaRPr b="0" i="1" sz="1350" u="none" cap="none" strike="noStrike">
              <a:solidFill>
                <a:srgbClr val="000000"/>
              </a:solidFill>
              <a:latin typeface="Trebuchet MS"/>
              <a:ea typeface="Trebuchet MS"/>
              <a:cs typeface="Trebuchet MS"/>
              <a:sym typeface="Trebuchet MS"/>
            </a:endParaRPr>
          </a:p>
          <a:p>
            <a:pPr indent="0" lvl="0" marL="12700" marR="0" rtl="0" algn="l">
              <a:lnSpc>
                <a:spcPct val="115000"/>
              </a:lnSpc>
              <a:spcBef>
                <a:spcPts val="190"/>
              </a:spcBef>
              <a:spcAft>
                <a:spcPts val="0"/>
              </a:spcAft>
              <a:buClr>
                <a:srgbClr val="000000"/>
              </a:buClr>
              <a:buSzPts val="1350"/>
              <a:buFont typeface="Arial"/>
              <a:buNone/>
            </a:pPr>
            <a:r>
              <a:rPr b="0" i="1" lang="en-US" sz="1350" u="none" cap="none" strike="noStrike">
                <a:solidFill>
                  <a:srgbClr val="000000"/>
                </a:solidFill>
                <a:latin typeface="Trebuchet MS"/>
                <a:ea typeface="Trebuchet MS"/>
                <a:cs typeface="Trebuchet MS"/>
                <a:sym typeface="Trebuchet MS"/>
              </a:rPr>
              <a:t>2. Communication skills</a:t>
            </a:r>
            <a:r>
              <a:rPr b="0" i="0" lang="en-US" sz="1350" u="none" cap="none" strike="noStrike">
                <a:solidFill>
                  <a:srgbClr val="000000"/>
                </a:solidFill>
                <a:latin typeface="Trebuchet MS"/>
                <a:ea typeface="Trebuchet MS"/>
                <a:cs typeface="Trebuchet MS"/>
                <a:sym typeface="Trebuchet MS"/>
              </a:rPr>
              <a:t> from daily constant collaboration with mentors and traders.</a:t>
            </a:r>
            <a:endParaRPr b="0" i="0" sz="135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5"/>
          <p:cNvSpPr txBox="1"/>
          <p:nvPr>
            <p:ph type="title"/>
          </p:nvPr>
        </p:nvSpPr>
        <p:spPr>
          <a:xfrm>
            <a:off x="512700" y="1893300"/>
            <a:ext cx="8118600" cy="1522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6000"/>
              <a:buNone/>
            </a:pPr>
            <a:r>
              <a:rPr b="1" lang="en-US">
                <a:solidFill>
                  <a:schemeClr val="dk1"/>
                </a:solidFill>
              </a:rPr>
              <a:t>THANK </a:t>
            </a:r>
            <a:r>
              <a:rPr b="1" lang="en-US">
                <a:solidFill>
                  <a:srgbClr val="C00000"/>
                </a:solidFill>
              </a:rPr>
              <a:t>YOU</a:t>
            </a:r>
            <a:endParaRPr b="1">
              <a:solidFill>
                <a:srgbClr val="C00000"/>
              </a:solidFill>
            </a:endParaRPr>
          </a:p>
        </p:txBody>
      </p:sp>
      <p:sp>
        <p:nvSpPr>
          <p:cNvPr id="189" name="Google Shape;189;p5"/>
          <p:cNvSpPr/>
          <p:nvPr/>
        </p:nvSpPr>
        <p:spPr>
          <a:xfrm>
            <a:off x="672950" y="3561525"/>
            <a:ext cx="828300" cy="51900"/>
          </a:xfrm>
          <a:prstGeom prst="rect">
            <a:avLst/>
          </a:prstGeom>
          <a:solidFill>
            <a:srgbClr val="E6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p:txBody>
      </p:sp>
      <p:grpSp>
        <p:nvGrpSpPr>
          <p:cNvPr id="190" name="Google Shape;190;p5"/>
          <p:cNvGrpSpPr/>
          <p:nvPr/>
        </p:nvGrpSpPr>
        <p:grpSpPr>
          <a:xfrm>
            <a:off x="383718" y="4718033"/>
            <a:ext cx="708805" cy="255269"/>
            <a:chOff x="383718" y="4718033"/>
            <a:chExt cx="708805" cy="255269"/>
          </a:xfrm>
        </p:grpSpPr>
        <p:pic>
          <p:nvPicPr>
            <p:cNvPr id="191" name="Google Shape;191;p5"/>
            <p:cNvPicPr preferRelativeResize="0"/>
            <p:nvPr/>
          </p:nvPicPr>
          <p:blipFill rotWithShape="1">
            <a:blip r:embed="rId3">
              <a:alphaModFix/>
            </a:blip>
            <a:srcRect b="0" l="0" r="0" t="0"/>
            <a:stretch/>
          </p:blipFill>
          <p:spPr>
            <a:xfrm>
              <a:off x="383718" y="4718033"/>
              <a:ext cx="232829" cy="255269"/>
            </a:xfrm>
            <a:prstGeom prst="rect">
              <a:avLst/>
            </a:prstGeom>
            <a:noFill/>
            <a:ln>
              <a:noFill/>
            </a:ln>
          </p:spPr>
        </p:pic>
        <p:sp>
          <p:nvSpPr>
            <p:cNvPr id="192" name="Google Shape;192;p5"/>
            <p:cNvSpPr/>
            <p:nvPr/>
          </p:nvSpPr>
          <p:spPr>
            <a:xfrm>
              <a:off x="660723" y="4754477"/>
              <a:ext cx="431800" cy="177164"/>
            </a:xfrm>
            <a:custGeom>
              <a:rect b="b" l="l" r="r" t="t"/>
              <a:pathLst>
                <a:path extrusionOk="0" h="177164" w="431800">
                  <a:moveTo>
                    <a:pt x="49948" y="12011"/>
                  </a:moveTo>
                  <a:lnTo>
                    <a:pt x="18421" y="12011"/>
                  </a:lnTo>
                  <a:lnTo>
                    <a:pt x="18456" y="114977"/>
                  </a:lnTo>
                  <a:lnTo>
                    <a:pt x="20863" y="139631"/>
                  </a:lnTo>
                  <a:lnTo>
                    <a:pt x="29980" y="159175"/>
                  </a:lnTo>
                  <a:lnTo>
                    <a:pt x="48463" y="171897"/>
                  </a:lnTo>
                  <a:lnTo>
                    <a:pt x="79001" y="176439"/>
                  </a:lnTo>
                  <a:lnTo>
                    <a:pt x="100324" y="174618"/>
                  </a:lnTo>
                  <a:lnTo>
                    <a:pt x="118929" y="166637"/>
                  </a:lnTo>
                  <a:lnTo>
                    <a:pt x="120681" y="164252"/>
                  </a:lnTo>
                  <a:lnTo>
                    <a:pt x="84477" y="164252"/>
                  </a:lnTo>
                  <a:lnTo>
                    <a:pt x="68401" y="160971"/>
                  </a:lnTo>
                  <a:lnTo>
                    <a:pt x="57719" y="151117"/>
                  </a:lnTo>
                  <a:lnTo>
                    <a:pt x="51783" y="134672"/>
                  </a:lnTo>
                  <a:lnTo>
                    <a:pt x="49948" y="111621"/>
                  </a:lnTo>
                  <a:lnTo>
                    <a:pt x="49948" y="12011"/>
                  </a:lnTo>
                  <a:close/>
                </a:path>
                <a:path extrusionOk="0" h="177164" w="431800">
                  <a:moveTo>
                    <a:pt x="137084" y="12011"/>
                  </a:moveTo>
                  <a:lnTo>
                    <a:pt x="122924" y="12011"/>
                  </a:lnTo>
                  <a:lnTo>
                    <a:pt x="122924" y="114977"/>
                  </a:lnTo>
                  <a:lnTo>
                    <a:pt x="120555" y="138100"/>
                  </a:lnTo>
                  <a:lnTo>
                    <a:pt x="113401" y="153324"/>
                  </a:lnTo>
                  <a:lnTo>
                    <a:pt x="101398" y="161694"/>
                  </a:lnTo>
                  <a:lnTo>
                    <a:pt x="84477" y="164252"/>
                  </a:lnTo>
                  <a:lnTo>
                    <a:pt x="120681" y="164252"/>
                  </a:lnTo>
                  <a:lnTo>
                    <a:pt x="132091" y="148722"/>
                  </a:lnTo>
                  <a:lnTo>
                    <a:pt x="137084" y="117097"/>
                  </a:lnTo>
                  <a:lnTo>
                    <a:pt x="137084" y="12011"/>
                  </a:lnTo>
                  <a:close/>
                </a:path>
                <a:path extrusionOk="0" h="177164" w="431800">
                  <a:moveTo>
                    <a:pt x="69791" y="2120"/>
                  </a:moveTo>
                  <a:lnTo>
                    <a:pt x="0" y="2120"/>
                  </a:lnTo>
                  <a:lnTo>
                    <a:pt x="0" y="12011"/>
                  </a:lnTo>
                  <a:lnTo>
                    <a:pt x="69791" y="12011"/>
                  </a:lnTo>
                  <a:lnTo>
                    <a:pt x="69791" y="2120"/>
                  </a:lnTo>
                  <a:close/>
                </a:path>
                <a:path extrusionOk="0" h="177164" w="431800">
                  <a:moveTo>
                    <a:pt x="153902" y="2120"/>
                  </a:moveTo>
                  <a:lnTo>
                    <a:pt x="104319" y="2120"/>
                  </a:lnTo>
                  <a:lnTo>
                    <a:pt x="104319" y="12011"/>
                  </a:lnTo>
                  <a:lnTo>
                    <a:pt x="153902" y="12011"/>
                  </a:lnTo>
                  <a:lnTo>
                    <a:pt x="153902" y="2120"/>
                  </a:lnTo>
                  <a:close/>
                </a:path>
                <a:path extrusionOk="0" h="177164" w="431800">
                  <a:moveTo>
                    <a:pt x="274463" y="87957"/>
                  </a:moveTo>
                  <a:lnTo>
                    <a:pt x="234668" y="87957"/>
                  </a:lnTo>
                  <a:lnTo>
                    <a:pt x="249636" y="90716"/>
                  </a:lnTo>
                  <a:lnTo>
                    <a:pt x="259937" y="98509"/>
                  </a:lnTo>
                  <a:lnTo>
                    <a:pt x="265886" y="110607"/>
                  </a:lnTo>
                  <a:lnTo>
                    <a:pt x="267799" y="126280"/>
                  </a:lnTo>
                  <a:lnTo>
                    <a:pt x="265503" y="142328"/>
                  </a:lnTo>
                  <a:lnTo>
                    <a:pt x="258605" y="154386"/>
                  </a:lnTo>
                  <a:lnTo>
                    <a:pt x="247094" y="161973"/>
                  </a:lnTo>
                  <a:lnTo>
                    <a:pt x="230956" y="164608"/>
                  </a:lnTo>
                  <a:lnTo>
                    <a:pt x="165243" y="164608"/>
                  </a:lnTo>
                  <a:lnTo>
                    <a:pt x="165243" y="174497"/>
                  </a:lnTo>
                  <a:lnTo>
                    <a:pt x="240327" y="174497"/>
                  </a:lnTo>
                  <a:lnTo>
                    <a:pt x="262011" y="171881"/>
                  </a:lnTo>
                  <a:lnTo>
                    <a:pt x="281031" y="163502"/>
                  </a:lnTo>
                  <a:lnTo>
                    <a:pt x="294535" y="148567"/>
                  </a:lnTo>
                  <a:lnTo>
                    <a:pt x="299670" y="126280"/>
                  </a:lnTo>
                  <a:lnTo>
                    <a:pt x="297550" y="112682"/>
                  </a:lnTo>
                  <a:lnTo>
                    <a:pt x="290150" y="99215"/>
                  </a:lnTo>
                  <a:lnTo>
                    <a:pt x="275911" y="88331"/>
                  </a:lnTo>
                  <a:lnTo>
                    <a:pt x="274463" y="87957"/>
                  </a:lnTo>
                  <a:close/>
                </a:path>
                <a:path extrusionOk="0" h="177164" w="431800">
                  <a:moveTo>
                    <a:pt x="215376" y="12011"/>
                  </a:moveTo>
                  <a:lnTo>
                    <a:pt x="184558" y="12011"/>
                  </a:lnTo>
                  <a:lnTo>
                    <a:pt x="184558" y="164608"/>
                  </a:lnTo>
                  <a:lnTo>
                    <a:pt x="215376" y="164608"/>
                  </a:lnTo>
                  <a:lnTo>
                    <a:pt x="215376" y="87957"/>
                  </a:lnTo>
                  <a:lnTo>
                    <a:pt x="274463" y="87957"/>
                  </a:lnTo>
                  <a:lnTo>
                    <a:pt x="253273" y="82480"/>
                  </a:lnTo>
                  <a:lnTo>
                    <a:pt x="266164" y="78241"/>
                  </a:lnTo>
                  <a:lnTo>
                    <a:pt x="215376" y="78241"/>
                  </a:lnTo>
                  <a:lnTo>
                    <a:pt x="215376" y="12011"/>
                  </a:lnTo>
                  <a:close/>
                </a:path>
                <a:path extrusionOk="0" h="177164" w="431800">
                  <a:moveTo>
                    <a:pt x="243879" y="2120"/>
                  </a:moveTo>
                  <a:lnTo>
                    <a:pt x="166481" y="2120"/>
                  </a:lnTo>
                  <a:lnTo>
                    <a:pt x="166481" y="12011"/>
                  </a:lnTo>
                  <a:lnTo>
                    <a:pt x="235034" y="12011"/>
                  </a:lnTo>
                  <a:lnTo>
                    <a:pt x="246878" y="14801"/>
                  </a:lnTo>
                  <a:lnTo>
                    <a:pt x="255151" y="22144"/>
                  </a:lnTo>
                  <a:lnTo>
                    <a:pt x="260005" y="32501"/>
                  </a:lnTo>
                  <a:lnTo>
                    <a:pt x="261590" y="44332"/>
                  </a:lnTo>
                  <a:lnTo>
                    <a:pt x="259820" y="57081"/>
                  </a:lnTo>
                  <a:lnTo>
                    <a:pt x="254481" y="67909"/>
                  </a:lnTo>
                  <a:lnTo>
                    <a:pt x="245525" y="75427"/>
                  </a:lnTo>
                  <a:lnTo>
                    <a:pt x="232904" y="78241"/>
                  </a:lnTo>
                  <a:lnTo>
                    <a:pt x="266164" y="78241"/>
                  </a:lnTo>
                  <a:lnTo>
                    <a:pt x="267415" y="77830"/>
                  </a:lnTo>
                  <a:lnTo>
                    <a:pt x="280232" y="69653"/>
                  </a:lnTo>
                  <a:lnTo>
                    <a:pt x="289530" y="57867"/>
                  </a:lnTo>
                  <a:lnTo>
                    <a:pt x="293117" y="42388"/>
                  </a:lnTo>
                  <a:lnTo>
                    <a:pt x="290057" y="26931"/>
                  </a:lnTo>
                  <a:lnTo>
                    <a:pt x="280853" y="14107"/>
                  </a:lnTo>
                  <a:lnTo>
                    <a:pt x="265472" y="5357"/>
                  </a:lnTo>
                  <a:lnTo>
                    <a:pt x="243879" y="2120"/>
                  </a:lnTo>
                  <a:close/>
                </a:path>
                <a:path extrusionOk="0" h="177164" w="431800">
                  <a:moveTo>
                    <a:pt x="333489" y="120630"/>
                  </a:moveTo>
                  <a:lnTo>
                    <a:pt x="322514" y="120630"/>
                  </a:lnTo>
                  <a:lnTo>
                    <a:pt x="323831" y="162553"/>
                  </a:lnTo>
                  <a:lnTo>
                    <a:pt x="323934" y="165844"/>
                  </a:lnTo>
                  <a:lnTo>
                    <a:pt x="335134" y="170730"/>
                  </a:lnTo>
                  <a:lnTo>
                    <a:pt x="348044" y="174077"/>
                  </a:lnTo>
                  <a:lnTo>
                    <a:pt x="361117" y="176000"/>
                  </a:lnTo>
                  <a:lnTo>
                    <a:pt x="372806" y="176615"/>
                  </a:lnTo>
                  <a:lnTo>
                    <a:pt x="397610" y="172871"/>
                  </a:lnTo>
                  <a:lnTo>
                    <a:pt x="408232" y="166902"/>
                  </a:lnTo>
                  <a:lnTo>
                    <a:pt x="373883" y="166902"/>
                  </a:lnTo>
                  <a:lnTo>
                    <a:pt x="357084" y="163944"/>
                  </a:lnTo>
                  <a:lnTo>
                    <a:pt x="344587" y="155157"/>
                  </a:lnTo>
                  <a:lnTo>
                    <a:pt x="336640" y="140675"/>
                  </a:lnTo>
                  <a:lnTo>
                    <a:pt x="333489" y="120630"/>
                  </a:lnTo>
                  <a:close/>
                </a:path>
                <a:path extrusionOk="0" h="177164" w="431800">
                  <a:moveTo>
                    <a:pt x="379543" y="0"/>
                  </a:moveTo>
                  <a:lnTo>
                    <a:pt x="357157" y="2981"/>
                  </a:lnTo>
                  <a:lnTo>
                    <a:pt x="357481" y="2981"/>
                  </a:lnTo>
                  <a:lnTo>
                    <a:pt x="340289" y="11689"/>
                  </a:lnTo>
                  <a:lnTo>
                    <a:pt x="339648" y="12053"/>
                  </a:lnTo>
                  <a:lnTo>
                    <a:pt x="327642" y="27644"/>
                  </a:lnTo>
                  <a:lnTo>
                    <a:pt x="323328" y="49804"/>
                  </a:lnTo>
                  <a:lnTo>
                    <a:pt x="323227" y="50374"/>
                  </a:lnTo>
                  <a:lnTo>
                    <a:pt x="323998" y="58857"/>
                  </a:lnTo>
                  <a:lnTo>
                    <a:pt x="324028" y="59186"/>
                  </a:lnTo>
                  <a:lnTo>
                    <a:pt x="353414" y="94269"/>
                  </a:lnTo>
                  <a:lnTo>
                    <a:pt x="368201" y="100320"/>
                  </a:lnTo>
                  <a:lnTo>
                    <a:pt x="383401" y="106070"/>
                  </a:lnTo>
                  <a:lnTo>
                    <a:pt x="395083" y="112815"/>
                  </a:lnTo>
                  <a:lnTo>
                    <a:pt x="402580" y="121480"/>
                  </a:lnTo>
                  <a:lnTo>
                    <a:pt x="405227" y="132993"/>
                  </a:lnTo>
                  <a:lnTo>
                    <a:pt x="403212" y="146639"/>
                  </a:lnTo>
                  <a:lnTo>
                    <a:pt x="403168" y="146935"/>
                  </a:lnTo>
                  <a:lnTo>
                    <a:pt x="397125" y="157631"/>
                  </a:lnTo>
                  <a:lnTo>
                    <a:pt x="387297" y="164485"/>
                  </a:lnTo>
                  <a:lnTo>
                    <a:pt x="373883" y="166902"/>
                  </a:lnTo>
                  <a:lnTo>
                    <a:pt x="408232" y="166902"/>
                  </a:lnTo>
                  <a:lnTo>
                    <a:pt x="415973" y="162553"/>
                  </a:lnTo>
                  <a:lnTo>
                    <a:pt x="427497" y="146639"/>
                  </a:lnTo>
                  <a:lnTo>
                    <a:pt x="431783" y="126104"/>
                  </a:lnTo>
                  <a:lnTo>
                    <a:pt x="430978" y="114677"/>
                  </a:lnTo>
                  <a:lnTo>
                    <a:pt x="408953" y="81844"/>
                  </a:lnTo>
                  <a:lnTo>
                    <a:pt x="383254" y="70295"/>
                  </a:lnTo>
                  <a:lnTo>
                    <a:pt x="370044" y="65288"/>
                  </a:lnTo>
                  <a:lnTo>
                    <a:pt x="358406" y="58857"/>
                  </a:lnTo>
                  <a:lnTo>
                    <a:pt x="350119" y="50374"/>
                  </a:lnTo>
                  <a:lnTo>
                    <a:pt x="346961" y="39210"/>
                  </a:lnTo>
                  <a:lnTo>
                    <a:pt x="349072" y="26702"/>
                  </a:lnTo>
                  <a:lnTo>
                    <a:pt x="355084" y="17440"/>
                  </a:lnTo>
                  <a:lnTo>
                    <a:pt x="364515" y="11689"/>
                  </a:lnTo>
                  <a:lnTo>
                    <a:pt x="376885" y="9712"/>
                  </a:lnTo>
                  <a:lnTo>
                    <a:pt x="419393" y="9712"/>
                  </a:lnTo>
                  <a:lnTo>
                    <a:pt x="411995" y="6334"/>
                  </a:lnTo>
                  <a:lnTo>
                    <a:pt x="401040" y="2981"/>
                  </a:lnTo>
                  <a:lnTo>
                    <a:pt x="389784" y="786"/>
                  </a:lnTo>
                  <a:lnTo>
                    <a:pt x="379543" y="0"/>
                  </a:lnTo>
                  <a:close/>
                </a:path>
                <a:path extrusionOk="0" h="177164" w="431800">
                  <a:moveTo>
                    <a:pt x="419393" y="9712"/>
                  </a:moveTo>
                  <a:lnTo>
                    <a:pt x="376885" y="9712"/>
                  </a:lnTo>
                  <a:lnTo>
                    <a:pt x="390396" y="12053"/>
                  </a:lnTo>
                  <a:lnTo>
                    <a:pt x="400791" y="19294"/>
                  </a:lnTo>
                  <a:lnTo>
                    <a:pt x="407865" y="31768"/>
                  </a:lnTo>
                  <a:lnTo>
                    <a:pt x="411414" y="49804"/>
                  </a:lnTo>
                  <a:lnTo>
                    <a:pt x="422389" y="49804"/>
                  </a:lnTo>
                  <a:lnTo>
                    <a:pt x="421374" y="12053"/>
                  </a:lnTo>
                  <a:lnTo>
                    <a:pt x="421335" y="10599"/>
                  </a:lnTo>
                  <a:lnTo>
                    <a:pt x="419393" y="9712"/>
                  </a:lnTo>
                  <a:close/>
                </a:path>
              </a:pathLst>
            </a:custGeom>
            <a:solidFill>
              <a:srgbClr val="E6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93" name="Google Shape;193;p5"/>
          <p:cNvPicPr preferRelativeResize="0"/>
          <p:nvPr/>
        </p:nvPicPr>
        <p:blipFill rotWithShape="1">
          <a:blip r:embed="rId4">
            <a:alphaModFix/>
          </a:blip>
          <a:srcRect b="0" l="0" r="0" t="0"/>
          <a:stretch/>
        </p:blipFill>
        <p:spPr>
          <a:xfrm>
            <a:off x="7692450" y="267725"/>
            <a:ext cx="1035000" cy="103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